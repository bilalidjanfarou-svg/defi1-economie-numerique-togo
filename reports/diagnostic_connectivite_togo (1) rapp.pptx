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Agences</c:v>
                </c:pt>
              </c:strCache>
            </c:strRef>
          </c:tx>
          <c:spPr>
            <a:solidFill>
              <a:srgbClr val="22C55E"/>
            </a:solidFill>
            <a:effectLst/>
          </c:spPr>
          <c:invertIfNegative val="0"/>
          <c:dLbls>
            <c:numFmt formatCode="#,##0" sourceLinked="0"/>
            <c:txPr>
              <a:bodyPr/>
              <a:lstStyle/>
              <a:p>
                <a:pPr>
                  <a:defRPr b="0" i="0" strike="noStrike" sz="1200" u="none">
                    <a:solidFill>
                      <a:srgbClr val="E6E6E6"/>
                    </a:solidFill>
                    <a:latin typeface="Arial"/>
                  </a:defRPr>
                </a:pPr>
              </a:p>
            </c:txPr>
            <c:showLegendKey val="0"/>
            <c:showVal val="1"/>
            <c:showCatName val="0"/>
            <c:showSerName val="0"/>
            <c:showPercent val="0"/>
            <c:showBubbleSize val="0"/>
            <c:showLeaderLines val="0"/>
          </c:dLbls>
          <c:cat>
            <c:multiLvlStrRef>
              <c:f>Sheet1!$A$2:$A$3</c:f>
              <c:multiLvlStrCache>
                <c:ptCount val="2"/>
                <c:lvl>
                  <c:pt idx="0">
                    <c:v>Togocom</c:v>
                  </c:pt>
                  <c:pt idx="1">
                    <c:v>Moov</c:v>
                  </c:pt>
                </c:lvl>
              </c:multiLvlStrCache>
            </c:multiLvlStrRef>
          </c:cat>
          <c:val>
            <c:numRef>
              <c:f>Sheet1!$B$2:$B$3</c:f>
              <c:numCache>
                <c:formatCode>General</c:formatCode>
                <c:ptCount val="2"/>
                <c:pt idx="0">
                  <c:v>62</c:v>
                </c:pt>
                <c:pt idx="1">
                  <c:v>28</c:v>
                </c:pt>
              </c:numCache>
            </c:numRef>
          </c:val>
        </c:ser>
        <c:dLbls>
          <c:numFmt formatCode="#,##0" sourceLinked="0"/>
          <c:txPr>
            <a:bodyPr/>
            <a:lstStyle/>
            <a:p>
              <a:pPr>
                <a:defRPr b="0" i="0" strike="noStrike" sz="1200" u="none">
                  <a:solidFill>
                    <a:srgbClr val="E6E6E6"/>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8B949E"/>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9525" cap="flat">
              <a:solidFill>
                <a:srgbClr val="2A2F3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8B949E"/>
                </a:solidFill>
                <a:latin typeface="Arial"/>
              </a:defRPr>
            </a:pPr>
            <a:endParaRPr lang="en-US"/>
          </a:p>
        </c:txPr>
        <c:crossAx val="2094734554"/>
        <c:crosses val="autoZero"/>
        <c:crossBetween val="between"/>
      </c:valAx>
      <c:spPr>
        <a:solidFill>
          <a:srgbClr val="161B22"/>
        </a:solidFill>
        <a:ln>
          <a:noFill/>
        </a:ln>
        <a:effectLst/>
      </c:spPr>
    </c:plotArea>
    <c:plotVisOnly val="1"/>
    <c:dispBlanksAs val="span"/>
  </c:chart>
  <c:spPr>
    <a:solidFill>
      <a:srgbClr val="0E1117"/>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Agences</c:v>
                </c:pt>
              </c:strCache>
            </c:strRef>
          </c:tx>
          <c:spPr>
            <a:solidFill>
              <a:srgbClr val="3B82F6"/>
            </a:solidFill>
            <a:effectLst/>
          </c:spPr>
          <c:invertIfNegative val="0"/>
          <c:dLbls>
            <c:numFmt formatCode="#,##0" sourceLinked="0"/>
            <c:txPr>
              <a:bodyPr/>
              <a:lstStyle/>
              <a:p>
                <a:pPr>
                  <a:defRPr b="0" i="0" strike="noStrike" sz="1100" u="none">
                    <a:solidFill>
                      <a:srgbClr val="E6E6E6"/>
                    </a:solidFill>
                    <a:latin typeface="Arial"/>
                  </a:defRPr>
                </a:pPr>
              </a:p>
            </c:txPr>
            <c:showLegendKey val="0"/>
            <c:showVal val="1"/>
            <c:showCatName val="0"/>
            <c:showSerName val="0"/>
            <c:showPercent val="0"/>
            <c:showBubbleSize val="0"/>
            <c:showLeaderLines val="0"/>
          </c:dLbls>
          <c:cat>
            <c:multiLvlStrRef>
              <c:f>Sheet1!$A$2:$A$6</c:f>
              <c:multiLvlStrCache>
                <c:ptCount val="5"/>
                <c:lvl>
                  <c:pt idx="0">
                    <c:v>Maritime</c:v>
                  </c:pt>
                  <c:pt idx="1">
                    <c:v>Kara</c:v>
                  </c:pt>
                  <c:pt idx="2">
                    <c:v>Plateaux</c:v>
                  </c:pt>
                  <c:pt idx="3">
                    <c:v>Centrale</c:v>
                  </c:pt>
                  <c:pt idx="4">
                    <c:v>Savanes</c:v>
                  </c:pt>
                </c:lvl>
              </c:multiLvlStrCache>
            </c:multiLvlStrRef>
          </c:cat>
          <c:val>
            <c:numRef>
              <c:f>Sheet1!$B$2:$B$6</c:f>
              <c:numCache>
                <c:formatCode>General</c:formatCode>
                <c:ptCount val="5"/>
                <c:pt idx="0">
                  <c:v>50</c:v>
                </c:pt>
                <c:pt idx="1">
                  <c:v>15</c:v>
                </c:pt>
                <c:pt idx="2">
                  <c:v>13</c:v>
                </c:pt>
                <c:pt idx="3">
                  <c:v>8</c:v>
                </c:pt>
                <c:pt idx="4">
                  <c:v>4</c:v>
                </c:pt>
              </c:numCache>
            </c:numRef>
          </c:val>
        </c:ser>
        <c:dLbls>
          <c:numFmt formatCode="#,##0" sourceLinked="0"/>
          <c:txPr>
            <a:bodyPr/>
            <a:lstStyle/>
            <a:p>
              <a:pPr>
                <a:defRPr b="0" i="0" strike="noStrike" sz="1100" u="none">
                  <a:solidFill>
                    <a:srgbClr val="E6E6E6"/>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8B949E"/>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9525" cap="flat">
              <a:solidFill>
                <a:srgbClr val="2A2F3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8B949E"/>
                </a:solidFill>
                <a:latin typeface="Arial"/>
              </a:defRPr>
            </a:pPr>
            <a:endParaRPr lang="en-US"/>
          </a:p>
        </c:txPr>
        <c:crossAx val="2094734554"/>
        <c:crosses val="autoZero"/>
        <c:crossBetween val="between"/>
      </c:valAx>
      <c:spPr>
        <a:solidFill>
          <a:srgbClr val="161B22"/>
        </a:solidFill>
        <a:ln>
          <a:noFill/>
        </a:ln>
        <a:effectLst/>
      </c:spPr>
    </c:plotArea>
    <c:plotVisOnly val="1"/>
    <c:dispBlanksAs val="span"/>
  </c:chart>
  <c:spPr>
    <a:solidFill>
      <a:srgbClr val="0E1117"/>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chart" Target="/ppt/charts/chart2.xml"/><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117"/>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0E1117"/>
          </a:solidFill>
          <a:ln/>
        </p:spPr>
      </p:sp>
      <p:sp>
        <p:nvSpPr>
          <p:cNvPr id="3" name="Text 1"/>
          <p:cNvSpPr txBox="1"/>
          <p:nvPr/>
        </p:nvSpPr>
        <p:spPr>
          <a:xfrm>
            <a:off x="822960" y="1828800"/>
            <a:ext cx="7315200" cy="365760"/>
          </a:xfrm>
          <a:prstGeom prst="rect">
            <a:avLst/>
          </a:prstGeom>
          <a:noFill/>
          <a:ln/>
        </p:spPr>
        <p:txBody>
          <a:bodyPr wrap="square" lIns="0" tIns="0" rIns="0" bIns="0" rtlCol="0" anchor="ctr"/>
          <a:lstStyle/>
          <a:p>
            <a:pPr indent="0" marL="0">
              <a:buNone/>
            </a:pPr>
            <a:r>
              <a:rPr lang="en-US" sz="1300" b="1" spc="300" kern="0" dirty="0">
                <a:solidFill>
                  <a:srgbClr val="22C55E"/>
                </a:solidFill>
                <a:latin typeface="Calibri" pitchFamily="34" charset="0"/>
                <a:ea typeface="Calibri" pitchFamily="34" charset="-122"/>
                <a:cs typeface="Calibri" pitchFamily="34" charset="-120"/>
              </a:rPr>
              <a:t>SYNTHÈSE NATIONALE</a:t>
            </a:r>
            <a:endParaRPr lang="en-US" sz="1300" dirty="0"/>
          </a:p>
        </p:txBody>
      </p:sp>
      <p:sp>
        <p:nvSpPr>
          <p:cNvPr id="4" name="Text 2"/>
          <p:cNvSpPr txBox="1"/>
          <p:nvPr/>
        </p:nvSpPr>
        <p:spPr>
          <a:xfrm>
            <a:off x="822960" y="2240280"/>
            <a:ext cx="9601200" cy="2194560"/>
          </a:xfrm>
          <a:prstGeom prst="rect">
            <a:avLst/>
          </a:prstGeom>
          <a:noFill/>
          <a:ln/>
        </p:spPr>
        <p:txBody>
          <a:bodyPr wrap="square" lIns="0" tIns="0" rIns="0" bIns="0" rtlCol="0" anchor="ctr"/>
          <a:lstStyle/>
          <a:p>
            <a:pPr indent="0" marL="0">
              <a:lnSpc>
                <a:spcPct val="108000"/>
              </a:lnSpc>
              <a:buNone/>
            </a:pPr>
            <a:r>
              <a:rPr lang="en-US" sz="4000" b="1" dirty="0">
                <a:solidFill>
                  <a:srgbClr val="E6E6E6"/>
                </a:solidFill>
                <a:latin typeface="Century Schoolbook" pitchFamily="34" charset="0"/>
                <a:ea typeface="Century Schoolbook" pitchFamily="34" charset="-122"/>
                <a:cs typeface="Century Schoolbook" pitchFamily="34" charset="-120"/>
              </a:rPr>
              <a:t>Diagnostic de l'accès aux</a:t>
            </a:r>
            <a:endParaRPr lang="en-US" sz="4000" dirty="0"/>
          </a:p>
          <a:p>
            <a:pPr indent="0" marL="0">
              <a:lnSpc>
                <a:spcPct val="108000"/>
              </a:lnSpc>
              <a:buNone/>
            </a:pPr>
            <a:r>
              <a:rPr lang="en-US" sz="4000" b="1" dirty="0">
                <a:solidFill>
                  <a:srgbClr val="E6E6E6"/>
                </a:solidFill>
                <a:latin typeface="Century Schoolbook" pitchFamily="34" charset="0"/>
                <a:ea typeface="Century Schoolbook" pitchFamily="34" charset="-122"/>
                <a:cs typeface="Century Schoolbook" pitchFamily="34" charset="-120"/>
              </a:rPr>
              <a:t>télécommunications et services</a:t>
            </a:r>
            <a:endParaRPr lang="en-US" sz="4000" dirty="0"/>
          </a:p>
          <a:p>
            <a:pPr indent="0" marL="0">
              <a:lnSpc>
                <a:spcPct val="108000"/>
              </a:lnSpc>
              <a:buNone/>
            </a:pPr>
            <a:r>
              <a:rPr lang="en-US" sz="4000" b="1" dirty="0">
                <a:solidFill>
                  <a:srgbClr val="E6E6E6"/>
                </a:solidFill>
                <a:latin typeface="Century Schoolbook" pitchFamily="34" charset="0"/>
                <a:ea typeface="Century Schoolbook" pitchFamily="34" charset="-122"/>
                <a:cs typeface="Century Schoolbook" pitchFamily="34" charset="-120"/>
              </a:rPr>
              <a:t>numériques au Togo</a:t>
            </a:r>
            <a:endParaRPr lang="en-US" sz="4000" dirty="0"/>
          </a:p>
        </p:txBody>
      </p:sp>
      <p:sp>
        <p:nvSpPr>
          <p:cNvPr id="5" name="Text 3"/>
          <p:cNvSpPr txBox="1"/>
          <p:nvPr/>
        </p:nvSpPr>
        <p:spPr>
          <a:xfrm>
            <a:off x="822960" y="4343400"/>
            <a:ext cx="7772400" cy="640080"/>
          </a:xfrm>
          <a:prstGeom prst="rect">
            <a:avLst/>
          </a:prstGeom>
          <a:noFill/>
          <a:ln/>
        </p:spPr>
        <p:txBody>
          <a:bodyPr wrap="square" lIns="0" tIns="0" rIns="0" bIns="0" rtlCol="0" anchor="ctr"/>
          <a:lstStyle/>
          <a:p>
            <a:pPr indent="0" marL="0">
              <a:buNone/>
            </a:pPr>
            <a:r>
              <a:rPr lang="en-US" sz="1400" dirty="0">
                <a:solidFill>
                  <a:srgbClr val="8B949E"/>
                </a:solidFill>
                <a:latin typeface="Calibri" pitchFamily="34" charset="0"/>
                <a:ea typeface="Calibri" pitchFamily="34" charset="-122"/>
                <a:cs typeface="Calibri" pitchFamily="34" charset="-120"/>
              </a:rPr>
              <a:t>Cartographie des infrastructures, croisement avec la démographie, et recommandations pour prioriser l'extension de la connectivité.</a:t>
            </a:r>
            <a:endParaRPr lang="en-US" sz="1400" dirty="0"/>
          </a:p>
        </p:txBody>
      </p:sp>
      <p:sp>
        <p:nvSpPr>
          <p:cNvPr id="6" name="Text 4"/>
          <p:cNvSpPr txBox="1"/>
          <p:nvPr/>
        </p:nvSpPr>
        <p:spPr>
          <a:xfrm>
            <a:off x="822960" y="5943600"/>
            <a:ext cx="8229600" cy="548640"/>
          </a:xfrm>
          <a:prstGeom prst="rect">
            <a:avLst/>
          </a:prstGeom>
          <a:noFill/>
          <a:ln/>
        </p:spPr>
        <p:txBody>
          <a:bodyPr wrap="square" lIns="0" tIns="0" rIns="0" bIns="0" rtlCol="0" anchor="ctr"/>
          <a:lstStyle/>
          <a:p>
            <a:pPr indent="0" marL="0">
              <a:buNone/>
            </a:pPr>
            <a:r>
              <a:rPr lang="en-US" sz="1100" spc="100" kern="0" dirty="0">
                <a:solidFill>
                  <a:srgbClr val="8B949E"/>
                </a:solidFill>
                <a:latin typeface="Calibri" pitchFamily="34" charset="0"/>
                <a:ea typeface="Calibri" pitchFamily="34" charset="-122"/>
                <a:cs typeface="Calibri" pitchFamily="34" charset="-120"/>
              </a:rPr>
              <a:t>RÉPUBLIQUE TOGOLAISE  ·  TOGO AI LAB — MESPTN</a:t>
            </a:r>
            <a:endParaRPr lang="en-US" sz="1100" dirty="0"/>
          </a:p>
          <a:p>
            <a:pPr indent="0" marL="0">
              <a:buNone/>
            </a:pPr>
            <a:r>
              <a:rPr lang="en-US" sz="1100" spc="100" kern="0" dirty="0">
                <a:solidFill>
                  <a:srgbClr val="8B949E"/>
                </a:solidFill>
                <a:latin typeface="Calibri" pitchFamily="34" charset="0"/>
                <a:ea typeface="Calibri" pitchFamily="34" charset="-122"/>
                <a:cs typeface="Calibri" pitchFamily="34" charset="-120"/>
              </a:rPr>
              <a:t>DATA CHALLENGE ÉCONOMIE NUMÉRIQUE · DÉFI 1</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E1117"/>
        </a:solidFill>
      </p:bgPr>
    </p:bg>
    <p:spTree>
      <p:nvGrpSpPr>
        <p:cNvPr id="1" name=""/>
        <p:cNvGrpSpPr/>
        <p:nvPr/>
      </p:nvGrpSpPr>
      <p:grpSpPr>
        <a:xfrm>
          <a:off x="0" y="0"/>
          <a:ext cx="0" cy="0"/>
          <a:chOff x="0" y="0"/>
          <a:chExt cx="0" cy="0"/>
        </a:xfrm>
      </p:grpSpPr>
      <p:sp>
        <p:nvSpPr>
          <p:cNvPr id="2" name="Text 0"/>
          <p:cNvSpPr txBox="1"/>
          <p:nvPr/>
        </p:nvSpPr>
        <p:spPr>
          <a:xfrm>
            <a:off x="548640" y="411480"/>
            <a:ext cx="5486400" cy="320040"/>
          </a:xfrm>
          <a:prstGeom prst="rect">
            <a:avLst/>
          </a:prstGeom>
          <a:noFill/>
          <a:ln/>
        </p:spPr>
        <p:txBody>
          <a:bodyPr wrap="square" lIns="0" tIns="0" rIns="0" bIns="0" rtlCol="0" anchor="ctr"/>
          <a:lstStyle/>
          <a:p>
            <a:pPr indent="0" marL="0">
              <a:buNone/>
            </a:pPr>
            <a:r>
              <a:rPr lang="en-US" sz="1200" b="1" spc="200" kern="0" dirty="0">
                <a:solidFill>
                  <a:srgbClr val="22C55E"/>
                </a:solidFill>
                <a:latin typeface="Calibri" pitchFamily="34" charset="0"/>
                <a:ea typeface="Calibri" pitchFamily="34" charset="-122"/>
                <a:cs typeface="Calibri" pitchFamily="34" charset="-120"/>
              </a:rPr>
              <a:t>AXE · CONTEXTE</a:t>
            </a:r>
            <a:endParaRPr lang="en-US" sz="1200" dirty="0"/>
          </a:p>
        </p:txBody>
      </p:sp>
      <p:sp>
        <p:nvSpPr>
          <p:cNvPr id="3" name="Text 1"/>
          <p:cNvSpPr txBox="1"/>
          <p:nvPr/>
        </p:nvSpPr>
        <p:spPr>
          <a:xfrm>
            <a:off x="548640" y="731520"/>
            <a:ext cx="10972800" cy="640080"/>
          </a:xfrm>
          <a:prstGeom prst="rect">
            <a:avLst/>
          </a:prstGeom>
          <a:noFill/>
          <a:ln/>
        </p:spPr>
        <p:txBody>
          <a:bodyPr wrap="square" lIns="0" tIns="0" rIns="0" bIns="0" rtlCol="0" anchor="ctr"/>
          <a:lstStyle/>
          <a:p>
            <a:pPr indent="0" marL="0">
              <a:buNone/>
            </a:pPr>
            <a:r>
              <a:rPr lang="en-US" sz="2800" b="1" dirty="0">
                <a:solidFill>
                  <a:srgbClr val="E6E6E6"/>
                </a:solidFill>
                <a:latin typeface="Century Schoolbook" pitchFamily="34" charset="0"/>
                <a:ea typeface="Century Schoolbook" pitchFamily="34" charset="-122"/>
                <a:cs typeface="Century Schoolbook" pitchFamily="34" charset="-120"/>
              </a:rPr>
              <a:t>Où en est le Togo sur l'accès aux télécommunications ?</a:t>
            </a:r>
            <a:endParaRPr lang="en-US" sz="2800" dirty="0"/>
          </a:p>
        </p:txBody>
      </p:sp>
      <p:sp>
        <p:nvSpPr>
          <p:cNvPr id="4" name="Shape 2"/>
          <p:cNvSpPr/>
          <p:nvPr/>
        </p:nvSpPr>
        <p:spPr>
          <a:xfrm>
            <a:off x="640080" y="1783080"/>
            <a:ext cx="365760" cy="365760"/>
          </a:xfrm>
          <a:prstGeom prst="ellipse">
            <a:avLst/>
          </a:prstGeom>
          <a:solidFill>
            <a:srgbClr val="22C55E"/>
          </a:solidFill>
          <a:ln/>
        </p:spPr>
      </p:sp>
      <p:sp>
        <p:nvSpPr>
          <p:cNvPr id="5" name="Text 3"/>
          <p:cNvSpPr txBox="1"/>
          <p:nvPr/>
        </p:nvSpPr>
        <p:spPr>
          <a:xfrm>
            <a:off x="640080" y="1783080"/>
            <a:ext cx="365760" cy="365760"/>
          </a:xfrm>
          <a:prstGeom prst="rect">
            <a:avLst/>
          </a:prstGeom>
          <a:noFill/>
          <a:ln/>
        </p:spPr>
        <p:txBody>
          <a:bodyPr wrap="square" lIns="0" tIns="0" rIns="0" bIns="0" rtlCol="0" anchor="ctr"/>
          <a:lstStyle/>
          <a:p>
            <a:pPr algn="ctr" indent="0" marL="0">
              <a:buNone/>
            </a:pPr>
            <a:r>
              <a:rPr lang="en-US" sz="1400" b="1" dirty="0">
                <a:solidFill>
                  <a:srgbClr val="0E1117"/>
                </a:solidFill>
                <a:latin typeface="Calibri" pitchFamily="34" charset="0"/>
                <a:ea typeface="Calibri" pitchFamily="34" charset="-122"/>
                <a:cs typeface="Calibri" pitchFamily="34" charset="-120"/>
              </a:rPr>
              <a:t>1</a:t>
            </a:r>
            <a:endParaRPr lang="en-US" sz="1400" dirty="0"/>
          </a:p>
        </p:txBody>
      </p:sp>
      <p:sp>
        <p:nvSpPr>
          <p:cNvPr id="6" name="Text 4"/>
          <p:cNvSpPr txBox="1"/>
          <p:nvPr/>
        </p:nvSpPr>
        <p:spPr>
          <a:xfrm>
            <a:off x="1188720" y="1737360"/>
            <a:ext cx="10241280" cy="457200"/>
          </a:xfrm>
          <a:prstGeom prst="rect">
            <a:avLst/>
          </a:prstGeom>
          <a:noFill/>
          <a:ln/>
        </p:spPr>
        <p:txBody>
          <a:bodyPr wrap="square" lIns="0" tIns="0" rIns="0" bIns="0" rtlCol="0" anchor="ctr"/>
          <a:lstStyle/>
          <a:p>
            <a:pPr indent="0" marL="0">
              <a:buNone/>
            </a:pPr>
            <a:r>
              <a:rPr lang="en-US" sz="1500" b="1" dirty="0">
                <a:solidFill>
                  <a:srgbClr val="E6E6E6"/>
                </a:solidFill>
                <a:latin typeface="Calibri" pitchFamily="34" charset="0"/>
                <a:ea typeface="Calibri" pitchFamily="34" charset="-122"/>
                <a:cs typeface="Calibri" pitchFamily="34" charset="-120"/>
              </a:rPr>
              <a:t>Cartographier  </a:t>
            </a:r>
            <a:pPr indent="0" marL="0">
              <a:buNone/>
            </a:pPr>
            <a:r>
              <a:rPr lang="en-US" sz="1500" dirty="0">
                <a:solidFill>
                  <a:srgbClr val="8B949E"/>
                </a:solidFill>
                <a:latin typeface="Calibri" pitchFamily="34" charset="0"/>
                <a:ea typeface="Calibri" pitchFamily="34" charset="-122"/>
                <a:cs typeface="Calibri" pitchFamily="34" charset="-120"/>
              </a:rPr>
              <a:t>les agences télécoms (Moov, Togocom) et centres de données</a:t>
            </a:r>
            <a:endParaRPr lang="en-US" sz="1500" dirty="0"/>
          </a:p>
        </p:txBody>
      </p:sp>
      <p:sp>
        <p:nvSpPr>
          <p:cNvPr id="7" name="Shape 5"/>
          <p:cNvSpPr/>
          <p:nvPr/>
        </p:nvSpPr>
        <p:spPr>
          <a:xfrm>
            <a:off x="640080" y="2560320"/>
            <a:ext cx="365760" cy="365760"/>
          </a:xfrm>
          <a:prstGeom prst="ellipse">
            <a:avLst/>
          </a:prstGeom>
          <a:solidFill>
            <a:srgbClr val="22C55E"/>
          </a:solidFill>
          <a:ln/>
        </p:spPr>
      </p:sp>
      <p:sp>
        <p:nvSpPr>
          <p:cNvPr id="8" name="Text 6"/>
          <p:cNvSpPr txBox="1"/>
          <p:nvPr/>
        </p:nvSpPr>
        <p:spPr>
          <a:xfrm>
            <a:off x="640080" y="2560320"/>
            <a:ext cx="365760" cy="365760"/>
          </a:xfrm>
          <a:prstGeom prst="rect">
            <a:avLst/>
          </a:prstGeom>
          <a:noFill/>
          <a:ln/>
        </p:spPr>
        <p:txBody>
          <a:bodyPr wrap="square" lIns="0" tIns="0" rIns="0" bIns="0" rtlCol="0" anchor="ctr"/>
          <a:lstStyle/>
          <a:p>
            <a:pPr algn="ctr" indent="0" marL="0">
              <a:buNone/>
            </a:pPr>
            <a:r>
              <a:rPr lang="en-US" sz="1400" b="1" dirty="0">
                <a:solidFill>
                  <a:srgbClr val="0E1117"/>
                </a:solidFill>
                <a:latin typeface="Calibri" pitchFamily="34" charset="0"/>
                <a:ea typeface="Calibri" pitchFamily="34" charset="-122"/>
                <a:cs typeface="Calibri" pitchFamily="34" charset="-120"/>
              </a:rPr>
              <a:t>2</a:t>
            </a:r>
            <a:endParaRPr lang="en-US" sz="1400" dirty="0"/>
          </a:p>
        </p:txBody>
      </p:sp>
      <p:sp>
        <p:nvSpPr>
          <p:cNvPr id="9" name="Text 7"/>
          <p:cNvSpPr txBox="1"/>
          <p:nvPr/>
        </p:nvSpPr>
        <p:spPr>
          <a:xfrm>
            <a:off x="1188720" y="2514600"/>
            <a:ext cx="10241280" cy="457200"/>
          </a:xfrm>
          <a:prstGeom prst="rect">
            <a:avLst/>
          </a:prstGeom>
          <a:noFill/>
          <a:ln/>
        </p:spPr>
        <p:txBody>
          <a:bodyPr wrap="square" lIns="0" tIns="0" rIns="0" bIns="0" rtlCol="0" anchor="ctr"/>
          <a:lstStyle/>
          <a:p>
            <a:pPr indent="0" marL="0">
              <a:buNone/>
            </a:pPr>
            <a:r>
              <a:rPr lang="en-US" sz="1500" b="1" dirty="0">
                <a:solidFill>
                  <a:srgbClr val="E6E6E6"/>
                </a:solidFill>
                <a:latin typeface="Calibri" pitchFamily="34" charset="0"/>
                <a:ea typeface="Calibri" pitchFamily="34" charset="-122"/>
                <a:cs typeface="Calibri" pitchFamily="34" charset="-120"/>
              </a:rPr>
              <a:t>Analyser  </a:t>
            </a:r>
            <a:pPr indent="0" marL="0">
              <a:buNone/>
            </a:pPr>
            <a:r>
              <a:rPr lang="en-US" sz="1500" dirty="0">
                <a:solidFill>
                  <a:srgbClr val="8B949E"/>
                </a:solidFill>
                <a:latin typeface="Calibri" pitchFamily="34" charset="0"/>
                <a:ea typeface="Calibri" pitchFamily="34" charset="-122"/>
                <a:cs typeface="Calibri" pitchFamily="34" charset="-120"/>
              </a:rPr>
              <a:t>la couverture des services numériques (mobile money) vs population</a:t>
            </a:r>
            <a:endParaRPr lang="en-US" sz="1500" dirty="0"/>
          </a:p>
        </p:txBody>
      </p:sp>
      <p:sp>
        <p:nvSpPr>
          <p:cNvPr id="10" name="Shape 8"/>
          <p:cNvSpPr/>
          <p:nvPr/>
        </p:nvSpPr>
        <p:spPr>
          <a:xfrm>
            <a:off x="640080" y="3337560"/>
            <a:ext cx="365760" cy="365760"/>
          </a:xfrm>
          <a:prstGeom prst="ellipse">
            <a:avLst/>
          </a:prstGeom>
          <a:solidFill>
            <a:srgbClr val="22C55E"/>
          </a:solidFill>
          <a:ln/>
        </p:spPr>
      </p:sp>
      <p:sp>
        <p:nvSpPr>
          <p:cNvPr id="11" name="Text 9"/>
          <p:cNvSpPr txBox="1"/>
          <p:nvPr/>
        </p:nvSpPr>
        <p:spPr>
          <a:xfrm>
            <a:off x="640080" y="3337560"/>
            <a:ext cx="365760" cy="365760"/>
          </a:xfrm>
          <a:prstGeom prst="rect">
            <a:avLst/>
          </a:prstGeom>
          <a:noFill/>
          <a:ln/>
        </p:spPr>
        <p:txBody>
          <a:bodyPr wrap="square" lIns="0" tIns="0" rIns="0" bIns="0" rtlCol="0" anchor="ctr"/>
          <a:lstStyle/>
          <a:p>
            <a:pPr algn="ctr" indent="0" marL="0">
              <a:buNone/>
            </a:pPr>
            <a:r>
              <a:rPr lang="en-US" sz="1400" b="1" dirty="0">
                <a:solidFill>
                  <a:srgbClr val="0E1117"/>
                </a:solidFill>
                <a:latin typeface="Calibri" pitchFamily="34" charset="0"/>
                <a:ea typeface="Calibri" pitchFamily="34" charset="-122"/>
                <a:cs typeface="Calibri" pitchFamily="34" charset="-120"/>
              </a:rPr>
              <a:t>3</a:t>
            </a:r>
            <a:endParaRPr lang="en-US" sz="1400" dirty="0"/>
          </a:p>
        </p:txBody>
      </p:sp>
      <p:sp>
        <p:nvSpPr>
          <p:cNvPr id="12" name="Text 10"/>
          <p:cNvSpPr txBox="1"/>
          <p:nvPr/>
        </p:nvSpPr>
        <p:spPr>
          <a:xfrm>
            <a:off x="1188720" y="3291840"/>
            <a:ext cx="10241280" cy="457200"/>
          </a:xfrm>
          <a:prstGeom prst="rect">
            <a:avLst/>
          </a:prstGeom>
          <a:noFill/>
          <a:ln/>
        </p:spPr>
        <p:txBody>
          <a:bodyPr wrap="square" lIns="0" tIns="0" rIns="0" bIns="0" rtlCol="0" anchor="ctr"/>
          <a:lstStyle/>
          <a:p>
            <a:pPr indent="0" marL="0">
              <a:buNone/>
            </a:pPr>
            <a:r>
              <a:rPr lang="en-US" sz="1500" b="1" dirty="0">
                <a:solidFill>
                  <a:srgbClr val="E6E6E6"/>
                </a:solidFill>
                <a:latin typeface="Calibri" pitchFamily="34" charset="0"/>
                <a:ea typeface="Calibri" pitchFamily="34" charset="-122"/>
                <a:cs typeface="Calibri" pitchFamily="34" charset="-120"/>
              </a:rPr>
              <a:t>Croiser  </a:t>
            </a:r>
            <a:pPr indent="0" marL="0">
              <a:buNone/>
            </a:pPr>
            <a:r>
              <a:rPr lang="en-US" sz="1500" dirty="0">
                <a:solidFill>
                  <a:srgbClr val="8B949E"/>
                </a:solidFill>
                <a:latin typeface="Calibri" pitchFamily="34" charset="0"/>
                <a:ea typeface="Calibri" pitchFamily="34" charset="-122"/>
                <a:cs typeface="Calibri" pitchFamily="34" charset="-120"/>
              </a:rPr>
              <a:t>infrastructures et densité démographique réelle (WorldPop 100m)</a:t>
            </a:r>
            <a:endParaRPr lang="en-US" sz="1500" dirty="0"/>
          </a:p>
        </p:txBody>
      </p:sp>
      <p:sp>
        <p:nvSpPr>
          <p:cNvPr id="13" name="Shape 11"/>
          <p:cNvSpPr/>
          <p:nvPr/>
        </p:nvSpPr>
        <p:spPr>
          <a:xfrm>
            <a:off x="640080" y="4114800"/>
            <a:ext cx="365760" cy="365760"/>
          </a:xfrm>
          <a:prstGeom prst="ellipse">
            <a:avLst/>
          </a:prstGeom>
          <a:solidFill>
            <a:srgbClr val="22C55E"/>
          </a:solidFill>
          <a:ln/>
        </p:spPr>
      </p:sp>
      <p:sp>
        <p:nvSpPr>
          <p:cNvPr id="14" name="Text 12"/>
          <p:cNvSpPr txBox="1"/>
          <p:nvPr/>
        </p:nvSpPr>
        <p:spPr>
          <a:xfrm>
            <a:off x="640080" y="4114800"/>
            <a:ext cx="365760" cy="365760"/>
          </a:xfrm>
          <a:prstGeom prst="rect">
            <a:avLst/>
          </a:prstGeom>
          <a:noFill/>
          <a:ln/>
        </p:spPr>
        <p:txBody>
          <a:bodyPr wrap="square" lIns="0" tIns="0" rIns="0" bIns="0" rtlCol="0" anchor="ctr"/>
          <a:lstStyle/>
          <a:p>
            <a:pPr algn="ctr" indent="0" marL="0">
              <a:buNone/>
            </a:pPr>
            <a:r>
              <a:rPr lang="en-US" sz="1400" b="1" dirty="0">
                <a:solidFill>
                  <a:srgbClr val="0E1117"/>
                </a:solidFill>
                <a:latin typeface="Calibri" pitchFamily="34" charset="0"/>
                <a:ea typeface="Calibri" pitchFamily="34" charset="-122"/>
                <a:cs typeface="Calibri" pitchFamily="34" charset="-120"/>
              </a:rPr>
              <a:t>4</a:t>
            </a:r>
            <a:endParaRPr lang="en-US" sz="1400" dirty="0"/>
          </a:p>
        </p:txBody>
      </p:sp>
      <p:sp>
        <p:nvSpPr>
          <p:cNvPr id="15" name="Text 13"/>
          <p:cNvSpPr txBox="1"/>
          <p:nvPr/>
        </p:nvSpPr>
        <p:spPr>
          <a:xfrm>
            <a:off x="1188720" y="4069080"/>
            <a:ext cx="10241280" cy="457200"/>
          </a:xfrm>
          <a:prstGeom prst="rect">
            <a:avLst/>
          </a:prstGeom>
          <a:noFill/>
          <a:ln/>
        </p:spPr>
        <p:txBody>
          <a:bodyPr wrap="square" lIns="0" tIns="0" rIns="0" bIns="0" rtlCol="0" anchor="ctr"/>
          <a:lstStyle/>
          <a:p>
            <a:pPr indent="0" marL="0">
              <a:buNone/>
            </a:pPr>
            <a:r>
              <a:rPr lang="en-US" sz="1500" b="1" dirty="0">
                <a:solidFill>
                  <a:srgbClr val="E6E6E6"/>
                </a:solidFill>
                <a:latin typeface="Calibri" pitchFamily="34" charset="0"/>
                <a:ea typeface="Calibri" pitchFamily="34" charset="-122"/>
                <a:cs typeface="Calibri" pitchFamily="34" charset="-120"/>
              </a:rPr>
              <a:t>Évaluer  </a:t>
            </a:r>
            <a:pPr indent="0" marL="0">
              <a:buNone/>
            </a:pPr>
            <a:r>
              <a:rPr lang="en-US" sz="1500" dirty="0">
                <a:solidFill>
                  <a:srgbClr val="8B949E"/>
                </a:solidFill>
                <a:latin typeface="Calibri" pitchFamily="34" charset="0"/>
                <a:ea typeface="Calibri" pitchFamily="34" charset="-122"/>
                <a:cs typeface="Calibri" pitchFamily="34" charset="-120"/>
              </a:rPr>
              <a:t>la couverture réseau mobile et identifier les zones blanches</a:t>
            </a:r>
            <a:endParaRPr lang="en-US" sz="1500" dirty="0"/>
          </a:p>
        </p:txBody>
      </p:sp>
      <p:sp>
        <p:nvSpPr>
          <p:cNvPr id="16" name="Shape 14"/>
          <p:cNvSpPr/>
          <p:nvPr/>
        </p:nvSpPr>
        <p:spPr>
          <a:xfrm>
            <a:off x="640080" y="4892040"/>
            <a:ext cx="365760" cy="365760"/>
          </a:xfrm>
          <a:prstGeom prst="ellipse">
            <a:avLst/>
          </a:prstGeom>
          <a:solidFill>
            <a:srgbClr val="22C55E"/>
          </a:solidFill>
          <a:ln/>
        </p:spPr>
      </p:sp>
      <p:sp>
        <p:nvSpPr>
          <p:cNvPr id="17" name="Text 15"/>
          <p:cNvSpPr txBox="1"/>
          <p:nvPr/>
        </p:nvSpPr>
        <p:spPr>
          <a:xfrm>
            <a:off x="640080" y="4892040"/>
            <a:ext cx="365760" cy="365760"/>
          </a:xfrm>
          <a:prstGeom prst="rect">
            <a:avLst/>
          </a:prstGeom>
          <a:noFill/>
          <a:ln/>
        </p:spPr>
        <p:txBody>
          <a:bodyPr wrap="square" lIns="0" tIns="0" rIns="0" bIns="0" rtlCol="0" anchor="ctr"/>
          <a:lstStyle/>
          <a:p>
            <a:pPr algn="ctr" indent="0" marL="0">
              <a:buNone/>
            </a:pPr>
            <a:r>
              <a:rPr lang="en-US" sz="1400" b="1" dirty="0">
                <a:solidFill>
                  <a:srgbClr val="0E1117"/>
                </a:solidFill>
                <a:latin typeface="Calibri" pitchFamily="34" charset="0"/>
                <a:ea typeface="Calibri" pitchFamily="34" charset="-122"/>
                <a:cs typeface="Calibri" pitchFamily="34" charset="-120"/>
              </a:rPr>
              <a:t>5</a:t>
            </a:r>
            <a:endParaRPr lang="en-US" sz="1400" dirty="0"/>
          </a:p>
        </p:txBody>
      </p:sp>
      <p:sp>
        <p:nvSpPr>
          <p:cNvPr id="18" name="Text 16"/>
          <p:cNvSpPr txBox="1"/>
          <p:nvPr/>
        </p:nvSpPr>
        <p:spPr>
          <a:xfrm>
            <a:off x="1188720" y="4846320"/>
            <a:ext cx="10241280" cy="457200"/>
          </a:xfrm>
          <a:prstGeom prst="rect">
            <a:avLst/>
          </a:prstGeom>
          <a:noFill/>
          <a:ln/>
        </p:spPr>
        <p:txBody>
          <a:bodyPr wrap="square" lIns="0" tIns="0" rIns="0" bIns="0" rtlCol="0" anchor="ctr"/>
          <a:lstStyle/>
          <a:p>
            <a:pPr indent="0" marL="0">
              <a:buNone/>
            </a:pPr>
            <a:r>
              <a:rPr lang="en-US" sz="1500" b="1" dirty="0">
                <a:solidFill>
                  <a:srgbClr val="E6E6E6"/>
                </a:solidFill>
                <a:latin typeface="Calibri" pitchFamily="34" charset="0"/>
                <a:ea typeface="Calibri" pitchFamily="34" charset="-122"/>
                <a:cs typeface="Calibri" pitchFamily="34" charset="-120"/>
              </a:rPr>
              <a:t>Recommander  </a:t>
            </a:r>
            <a:pPr indent="0" marL="0">
              <a:buNone/>
            </a:pPr>
            <a:r>
              <a:rPr lang="en-US" sz="1500" dirty="0">
                <a:solidFill>
                  <a:srgbClr val="8B949E"/>
                </a:solidFill>
                <a:latin typeface="Calibri" pitchFamily="34" charset="0"/>
                <a:ea typeface="Calibri" pitchFamily="34" charset="-122"/>
                <a:cs typeface="Calibri" pitchFamily="34" charset="-120"/>
              </a:rPr>
              <a:t>des priorités ciblées pour étendre la connectivité</a:t>
            </a:r>
            <a:endParaRPr lang="en-US" sz="1500" dirty="0"/>
          </a:p>
        </p:txBody>
      </p:sp>
      <p:sp>
        <p:nvSpPr>
          <p:cNvPr id="19" name="Text 17"/>
          <p:cNvSpPr txBox="1"/>
          <p:nvPr/>
        </p:nvSpPr>
        <p:spPr>
          <a:xfrm>
            <a:off x="457200" y="6537960"/>
            <a:ext cx="7315200" cy="274320"/>
          </a:xfrm>
          <a:prstGeom prst="rect">
            <a:avLst/>
          </a:prstGeom>
          <a:noFill/>
          <a:ln/>
        </p:spPr>
        <p:txBody>
          <a:bodyPr wrap="square" lIns="0" tIns="0" rIns="0" bIns="0" rtlCol="0" anchor="ctr"/>
          <a:lstStyle/>
          <a:p>
            <a:pPr indent="0" marL="0">
              <a:buNone/>
            </a:pPr>
            <a:r>
              <a:rPr lang="en-US" sz="900" dirty="0">
                <a:solidFill>
                  <a:srgbClr val="8B949E"/>
                </a:solidFill>
                <a:latin typeface="Calibri" pitchFamily="34" charset="0"/>
                <a:ea typeface="Calibri" pitchFamily="34" charset="-122"/>
                <a:cs typeface="Calibri" pitchFamily="34" charset="-120"/>
              </a:rPr>
              <a:t>Défi 1 · Économie Numérique — Togo AI Lab</a:t>
            </a:r>
            <a:endParaRPr lang="en-US" sz="900" dirty="0"/>
          </a:p>
        </p:txBody>
      </p:sp>
      <p:sp>
        <p:nvSpPr>
          <p:cNvPr id="20" name="Text 18"/>
          <p:cNvSpPr txBox="1"/>
          <p:nvPr/>
        </p:nvSpPr>
        <p:spPr>
          <a:xfrm>
            <a:off x="11521440" y="6537960"/>
            <a:ext cx="365760" cy="274320"/>
          </a:xfrm>
          <a:prstGeom prst="rect">
            <a:avLst/>
          </a:prstGeom>
          <a:noFill/>
          <a:ln/>
        </p:spPr>
        <p:txBody>
          <a:bodyPr wrap="square" lIns="0" tIns="0" rIns="0" bIns="0" rtlCol="0" anchor="ctr"/>
          <a:lstStyle/>
          <a:p>
            <a:pPr algn="r" indent="0" marL="0">
              <a:buNone/>
            </a:pPr>
            <a:r>
              <a:rPr lang="en-US" sz="900" dirty="0">
                <a:solidFill>
                  <a:srgbClr val="8B949E"/>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E1117"/>
        </a:solidFill>
      </p:bgPr>
    </p:bg>
    <p:spTree>
      <p:nvGrpSpPr>
        <p:cNvPr id="1" name=""/>
        <p:cNvGrpSpPr/>
        <p:nvPr/>
      </p:nvGrpSpPr>
      <p:grpSpPr>
        <a:xfrm>
          <a:off x="0" y="0"/>
          <a:ext cx="0" cy="0"/>
          <a:chOff x="0" y="0"/>
          <a:chExt cx="0" cy="0"/>
        </a:xfrm>
      </p:grpSpPr>
      <p:sp>
        <p:nvSpPr>
          <p:cNvPr id="2" name="Text 0"/>
          <p:cNvSpPr txBox="1"/>
          <p:nvPr/>
        </p:nvSpPr>
        <p:spPr>
          <a:xfrm>
            <a:off x="548640" y="411480"/>
            <a:ext cx="5486400" cy="320040"/>
          </a:xfrm>
          <a:prstGeom prst="rect">
            <a:avLst/>
          </a:prstGeom>
          <a:noFill/>
          <a:ln/>
        </p:spPr>
        <p:txBody>
          <a:bodyPr wrap="square" lIns="0" tIns="0" rIns="0" bIns="0" rtlCol="0" anchor="ctr"/>
          <a:lstStyle/>
          <a:p>
            <a:pPr indent="0" marL="0">
              <a:buNone/>
            </a:pPr>
            <a:r>
              <a:rPr lang="en-US" sz="1200" b="1" spc="200" kern="0" dirty="0">
                <a:solidFill>
                  <a:srgbClr val="22C55E"/>
                </a:solidFill>
                <a:latin typeface="Calibri" pitchFamily="34" charset="0"/>
                <a:ea typeface="Calibri" pitchFamily="34" charset="-122"/>
                <a:cs typeface="Calibri" pitchFamily="34" charset="-120"/>
              </a:rPr>
              <a:t>AXE · MÉTHODOLOGIE</a:t>
            </a:r>
            <a:endParaRPr lang="en-US" sz="1200" dirty="0"/>
          </a:p>
        </p:txBody>
      </p:sp>
      <p:sp>
        <p:nvSpPr>
          <p:cNvPr id="3" name="Text 1"/>
          <p:cNvSpPr txBox="1"/>
          <p:nvPr/>
        </p:nvSpPr>
        <p:spPr>
          <a:xfrm>
            <a:off x="548640" y="731520"/>
            <a:ext cx="10972800" cy="640080"/>
          </a:xfrm>
          <a:prstGeom prst="rect">
            <a:avLst/>
          </a:prstGeom>
          <a:noFill/>
          <a:ln/>
        </p:spPr>
        <p:txBody>
          <a:bodyPr wrap="square" lIns="0" tIns="0" rIns="0" bIns="0" rtlCol="0" anchor="ctr"/>
          <a:lstStyle/>
          <a:p>
            <a:pPr indent="0" marL="0">
              <a:buNone/>
            </a:pPr>
            <a:r>
              <a:rPr lang="en-US" sz="2800" b="1" dirty="0">
                <a:solidFill>
                  <a:srgbClr val="E6E6E6"/>
                </a:solidFill>
                <a:latin typeface="Century Schoolbook" pitchFamily="34" charset="0"/>
                <a:ea typeface="Century Schoolbook" pitchFamily="34" charset="-122"/>
                <a:cs typeface="Century Schoolbook" pitchFamily="34" charset="-120"/>
              </a:rPr>
              <a:t>Sources de données</a:t>
            </a:r>
            <a:endParaRPr lang="en-US" sz="2800" dirty="0"/>
          </a:p>
        </p:txBody>
      </p:sp>
      <p:sp>
        <p:nvSpPr>
          <p:cNvPr id="4" name="Shape 2"/>
          <p:cNvSpPr/>
          <p:nvPr/>
        </p:nvSpPr>
        <p:spPr>
          <a:xfrm>
            <a:off x="548640" y="1691640"/>
            <a:ext cx="5394960" cy="1371600"/>
          </a:xfrm>
          <a:prstGeom prst="roundRect">
            <a:avLst>
              <a:gd name="adj" fmla="val 5333"/>
            </a:avLst>
          </a:prstGeom>
          <a:solidFill>
            <a:srgbClr val="161B22"/>
          </a:solidFill>
          <a:ln w="12700">
            <a:solidFill>
              <a:srgbClr val="2A2F38"/>
            </a:solidFill>
            <a:prstDash val="solid"/>
          </a:ln>
        </p:spPr>
      </p:sp>
      <p:sp>
        <p:nvSpPr>
          <p:cNvPr id="5" name="Shape 3"/>
          <p:cNvSpPr/>
          <p:nvPr/>
        </p:nvSpPr>
        <p:spPr>
          <a:xfrm>
            <a:off x="822960" y="1965960"/>
            <a:ext cx="128016" cy="128016"/>
          </a:xfrm>
          <a:prstGeom prst="ellipse">
            <a:avLst/>
          </a:prstGeom>
          <a:solidFill>
            <a:srgbClr val="22C55E"/>
          </a:solidFill>
          <a:ln/>
        </p:spPr>
      </p:sp>
      <p:sp>
        <p:nvSpPr>
          <p:cNvPr id="6" name="Text 4"/>
          <p:cNvSpPr txBox="1"/>
          <p:nvPr/>
        </p:nvSpPr>
        <p:spPr>
          <a:xfrm>
            <a:off x="1051560" y="1856232"/>
            <a:ext cx="4663440" cy="365760"/>
          </a:xfrm>
          <a:prstGeom prst="rect">
            <a:avLst/>
          </a:prstGeom>
          <a:noFill/>
          <a:ln/>
        </p:spPr>
        <p:txBody>
          <a:bodyPr wrap="square" lIns="0" tIns="0" rIns="0" bIns="0" rtlCol="0" anchor="ctr"/>
          <a:lstStyle/>
          <a:p>
            <a:pPr indent="0" marL="0">
              <a:buNone/>
            </a:pPr>
            <a:r>
              <a:rPr lang="en-US" sz="1400" b="1" dirty="0">
                <a:solidFill>
                  <a:srgbClr val="E6E6E6"/>
                </a:solidFill>
                <a:latin typeface="Calibri" pitchFamily="34" charset="0"/>
                <a:ea typeface="Calibri" pitchFamily="34" charset="-122"/>
                <a:cs typeface="Calibri" pitchFamily="34" charset="-120"/>
              </a:rPr>
              <a:t>Agences Togocom / Moov</a:t>
            </a:r>
            <a:endParaRPr lang="en-US" sz="1400" dirty="0"/>
          </a:p>
        </p:txBody>
      </p:sp>
      <p:sp>
        <p:nvSpPr>
          <p:cNvPr id="7" name="Text 5"/>
          <p:cNvSpPr txBox="1"/>
          <p:nvPr/>
        </p:nvSpPr>
        <p:spPr>
          <a:xfrm>
            <a:off x="822960" y="2286000"/>
            <a:ext cx="4846320" cy="640080"/>
          </a:xfrm>
          <a:prstGeom prst="rect">
            <a:avLst/>
          </a:prstGeom>
          <a:noFill/>
          <a:ln/>
        </p:spPr>
        <p:txBody>
          <a:bodyPr wrap="square" lIns="0" tIns="0" rIns="0" bIns="0" rtlCol="0" anchor="ctr"/>
          <a:lstStyle/>
          <a:p>
            <a:pPr indent="0" marL="0">
              <a:buNone/>
            </a:pPr>
            <a:r>
              <a:rPr lang="en-US" sz="1100" dirty="0">
                <a:solidFill>
                  <a:srgbClr val="8B949E"/>
                </a:solidFill>
                <a:latin typeface="Calibri" pitchFamily="34" charset="0"/>
                <a:ea typeface="Calibri" pitchFamily="34" charset="-122"/>
                <a:cs typeface="Calibri" pitchFamily="34" charset="-120"/>
              </a:rPr>
              <a:t>90 agences géolocalisées</a:t>
            </a:r>
            <a:endParaRPr lang="en-US" sz="1100" dirty="0"/>
          </a:p>
        </p:txBody>
      </p:sp>
      <p:sp>
        <p:nvSpPr>
          <p:cNvPr id="8" name="Shape 6"/>
          <p:cNvSpPr/>
          <p:nvPr/>
        </p:nvSpPr>
        <p:spPr>
          <a:xfrm>
            <a:off x="6217920" y="1691640"/>
            <a:ext cx="5394960" cy="1371600"/>
          </a:xfrm>
          <a:prstGeom prst="roundRect">
            <a:avLst>
              <a:gd name="adj" fmla="val 5333"/>
            </a:avLst>
          </a:prstGeom>
          <a:solidFill>
            <a:srgbClr val="161B22"/>
          </a:solidFill>
          <a:ln w="12700">
            <a:solidFill>
              <a:srgbClr val="2A2F38"/>
            </a:solidFill>
            <a:prstDash val="solid"/>
          </a:ln>
        </p:spPr>
      </p:sp>
      <p:sp>
        <p:nvSpPr>
          <p:cNvPr id="9" name="Shape 7"/>
          <p:cNvSpPr/>
          <p:nvPr/>
        </p:nvSpPr>
        <p:spPr>
          <a:xfrm>
            <a:off x="6492240" y="1965960"/>
            <a:ext cx="128016" cy="128016"/>
          </a:xfrm>
          <a:prstGeom prst="ellipse">
            <a:avLst/>
          </a:prstGeom>
          <a:solidFill>
            <a:srgbClr val="22C55E"/>
          </a:solidFill>
          <a:ln/>
        </p:spPr>
      </p:sp>
      <p:sp>
        <p:nvSpPr>
          <p:cNvPr id="10" name="Text 8"/>
          <p:cNvSpPr txBox="1"/>
          <p:nvPr/>
        </p:nvSpPr>
        <p:spPr>
          <a:xfrm>
            <a:off x="6720840" y="1856232"/>
            <a:ext cx="4663440" cy="365760"/>
          </a:xfrm>
          <a:prstGeom prst="rect">
            <a:avLst/>
          </a:prstGeom>
          <a:noFill/>
          <a:ln/>
        </p:spPr>
        <p:txBody>
          <a:bodyPr wrap="square" lIns="0" tIns="0" rIns="0" bIns="0" rtlCol="0" anchor="ctr"/>
          <a:lstStyle/>
          <a:p>
            <a:pPr indent="0" marL="0">
              <a:buNone/>
            </a:pPr>
            <a:r>
              <a:rPr lang="en-US" sz="1400" b="1" dirty="0">
                <a:solidFill>
                  <a:srgbClr val="E6E6E6"/>
                </a:solidFill>
                <a:latin typeface="Calibri" pitchFamily="34" charset="0"/>
                <a:ea typeface="Calibri" pitchFamily="34" charset="-122"/>
                <a:cs typeface="Calibri" pitchFamily="34" charset="-120"/>
              </a:rPr>
              <a:t>Points mobile money</a:t>
            </a:r>
            <a:endParaRPr lang="en-US" sz="1400" dirty="0"/>
          </a:p>
        </p:txBody>
      </p:sp>
      <p:sp>
        <p:nvSpPr>
          <p:cNvPr id="11" name="Text 9"/>
          <p:cNvSpPr txBox="1"/>
          <p:nvPr/>
        </p:nvSpPr>
        <p:spPr>
          <a:xfrm>
            <a:off x="6492240" y="2286000"/>
            <a:ext cx="4846320" cy="640080"/>
          </a:xfrm>
          <a:prstGeom prst="rect">
            <a:avLst/>
          </a:prstGeom>
          <a:noFill/>
          <a:ln/>
        </p:spPr>
        <p:txBody>
          <a:bodyPr wrap="square" lIns="0" tIns="0" rIns="0" bIns="0" rtlCol="0" anchor="ctr"/>
          <a:lstStyle/>
          <a:p>
            <a:pPr indent="0" marL="0">
              <a:buNone/>
            </a:pPr>
            <a:r>
              <a:rPr lang="en-US" sz="1100" dirty="0">
                <a:solidFill>
                  <a:srgbClr val="8B949E"/>
                </a:solidFill>
                <a:latin typeface="Calibri" pitchFamily="34" charset="0"/>
                <a:ea typeface="Calibri" pitchFamily="34" charset="-122"/>
                <a:cs typeface="Calibri" pitchFamily="34" charset="-120"/>
              </a:rPr>
              <a:t>19 788 points (recharge, transfert, paiement)</a:t>
            </a:r>
            <a:endParaRPr lang="en-US" sz="1100" dirty="0"/>
          </a:p>
        </p:txBody>
      </p:sp>
      <p:sp>
        <p:nvSpPr>
          <p:cNvPr id="12" name="Shape 10"/>
          <p:cNvSpPr/>
          <p:nvPr/>
        </p:nvSpPr>
        <p:spPr>
          <a:xfrm>
            <a:off x="548640" y="3291840"/>
            <a:ext cx="5394960" cy="1371600"/>
          </a:xfrm>
          <a:prstGeom prst="roundRect">
            <a:avLst>
              <a:gd name="adj" fmla="val 5333"/>
            </a:avLst>
          </a:prstGeom>
          <a:solidFill>
            <a:srgbClr val="161B22"/>
          </a:solidFill>
          <a:ln w="12700">
            <a:solidFill>
              <a:srgbClr val="2A2F38"/>
            </a:solidFill>
            <a:prstDash val="solid"/>
          </a:ln>
        </p:spPr>
      </p:sp>
      <p:sp>
        <p:nvSpPr>
          <p:cNvPr id="13" name="Shape 11"/>
          <p:cNvSpPr/>
          <p:nvPr/>
        </p:nvSpPr>
        <p:spPr>
          <a:xfrm>
            <a:off x="822960" y="3566160"/>
            <a:ext cx="128016" cy="128016"/>
          </a:xfrm>
          <a:prstGeom prst="ellipse">
            <a:avLst/>
          </a:prstGeom>
          <a:solidFill>
            <a:srgbClr val="22C55E"/>
          </a:solidFill>
          <a:ln/>
        </p:spPr>
      </p:sp>
      <p:sp>
        <p:nvSpPr>
          <p:cNvPr id="14" name="Text 12"/>
          <p:cNvSpPr txBox="1"/>
          <p:nvPr/>
        </p:nvSpPr>
        <p:spPr>
          <a:xfrm>
            <a:off x="1051560" y="3456432"/>
            <a:ext cx="4663440" cy="365760"/>
          </a:xfrm>
          <a:prstGeom prst="rect">
            <a:avLst/>
          </a:prstGeom>
          <a:noFill/>
          <a:ln/>
        </p:spPr>
        <p:txBody>
          <a:bodyPr wrap="square" lIns="0" tIns="0" rIns="0" bIns="0" rtlCol="0" anchor="ctr"/>
          <a:lstStyle/>
          <a:p>
            <a:pPr indent="0" marL="0">
              <a:buNone/>
            </a:pPr>
            <a:r>
              <a:rPr lang="en-US" sz="1400" b="1" dirty="0">
                <a:solidFill>
                  <a:srgbClr val="E6E6E6"/>
                </a:solidFill>
                <a:latin typeface="Calibri" pitchFamily="34" charset="0"/>
                <a:ea typeface="Calibri" pitchFamily="34" charset="-122"/>
                <a:cs typeface="Calibri" pitchFamily="34" charset="-120"/>
              </a:rPr>
              <a:t>Centres de données</a:t>
            </a:r>
            <a:endParaRPr lang="en-US" sz="1400" dirty="0"/>
          </a:p>
        </p:txBody>
      </p:sp>
      <p:sp>
        <p:nvSpPr>
          <p:cNvPr id="15" name="Text 13"/>
          <p:cNvSpPr txBox="1"/>
          <p:nvPr/>
        </p:nvSpPr>
        <p:spPr>
          <a:xfrm>
            <a:off x="822960" y="3886200"/>
            <a:ext cx="4846320" cy="640080"/>
          </a:xfrm>
          <a:prstGeom prst="rect">
            <a:avLst/>
          </a:prstGeom>
          <a:noFill/>
          <a:ln/>
        </p:spPr>
        <p:txBody>
          <a:bodyPr wrap="square" lIns="0" tIns="0" rIns="0" bIns="0" rtlCol="0" anchor="ctr"/>
          <a:lstStyle/>
          <a:p>
            <a:pPr indent="0" marL="0">
              <a:buNone/>
            </a:pPr>
            <a:r>
              <a:rPr lang="en-US" sz="1100" dirty="0">
                <a:solidFill>
                  <a:srgbClr val="8B949E"/>
                </a:solidFill>
                <a:latin typeface="Calibri" pitchFamily="34" charset="0"/>
                <a:ea typeface="Calibri" pitchFamily="34" charset="-122"/>
                <a:cs typeface="Calibri" pitchFamily="34" charset="-120"/>
              </a:rPr>
              <a:t>3 sites recensés</a:t>
            </a:r>
            <a:endParaRPr lang="en-US" sz="1100" dirty="0"/>
          </a:p>
        </p:txBody>
      </p:sp>
      <p:sp>
        <p:nvSpPr>
          <p:cNvPr id="16" name="Shape 14"/>
          <p:cNvSpPr/>
          <p:nvPr/>
        </p:nvSpPr>
        <p:spPr>
          <a:xfrm>
            <a:off x="6217920" y="3291840"/>
            <a:ext cx="5394960" cy="1371600"/>
          </a:xfrm>
          <a:prstGeom prst="roundRect">
            <a:avLst>
              <a:gd name="adj" fmla="val 5333"/>
            </a:avLst>
          </a:prstGeom>
          <a:solidFill>
            <a:srgbClr val="161B22"/>
          </a:solidFill>
          <a:ln w="12700">
            <a:solidFill>
              <a:srgbClr val="2A2F38"/>
            </a:solidFill>
            <a:prstDash val="solid"/>
          </a:ln>
        </p:spPr>
      </p:sp>
      <p:sp>
        <p:nvSpPr>
          <p:cNvPr id="17" name="Shape 15"/>
          <p:cNvSpPr/>
          <p:nvPr/>
        </p:nvSpPr>
        <p:spPr>
          <a:xfrm>
            <a:off x="6492240" y="3566160"/>
            <a:ext cx="128016" cy="128016"/>
          </a:xfrm>
          <a:prstGeom prst="ellipse">
            <a:avLst/>
          </a:prstGeom>
          <a:solidFill>
            <a:srgbClr val="F97316"/>
          </a:solidFill>
          <a:ln/>
        </p:spPr>
      </p:sp>
      <p:sp>
        <p:nvSpPr>
          <p:cNvPr id="18" name="Text 16"/>
          <p:cNvSpPr txBox="1"/>
          <p:nvPr/>
        </p:nvSpPr>
        <p:spPr>
          <a:xfrm>
            <a:off x="6720840" y="3456432"/>
            <a:ext cx="4663440" cy="365760"/>
          </a:xfrm>
          <a:prstGeom prst="rect">
            <a:avLst/>
          </a:prstGeom>
          <a:noFill/>
          <a:ln/>
        </p:spPr>
        <p:txBody>
          <a:bodyPr wrap="square" lIns="0" tIns="0" rIns="0" bIns="0" rtlCol="0" anchor="ctr"/>
          <a:lstStyle/>
          <a:p>
            <a:pPr indent="0" marL="0">
              <a:buNone/>
            </a:pPr>
            <a:r>
              <a:rPr lang="en-US" sz="1400" b="1" dirty="0">
                <a:solidFill>
                  <a:srgbClr val="E6E6E6"/>
                </a:solidFill>
                <a:latin typeface="Calibri" pitchFamily="34" charset="0"/>
                <a:ea typeface="Calibri" pitchFamily="34" charset="-122"/>
                <a:cs typeface="Calibri" pitchFamily="34" charset="-120"/>
              </a:rPr>
              <a:t>Agences CANAL+</a:t>
            </a:r>
            <a:endParaRPr lang="en-US" sz="1400" dirty="0"/>
          </a:p>
        </p:txBody>
      </p:sp>
      <p:sp>
        <p:nvSpPr>
          <p:cNvPr id="19" name="Text 17"/>
          <p:cNvSpPr txBox="1"/>
          <p:nvPr/>
        </p:nvSpPr>
        <p:spPr>
          <a:xfrm>
            <a:off x="6492240" y="3886200"/>
            <a:ext cx="4846320" cy="640080"/>
          </a:xfrm>
          <a:prstGeom prst="rect">
            <a:avLst/>
          </a:prstGeom>
          <a:noFill/>
          <a:ln/>
        </p:spPr>
        <p:txBody>
          <a:bodyPr wrap="square" lIns="0" tIns="0" rIns="0" bIns="0" rtlCol="0" anchor="ctr"/>
          <a:lstStyle/>
          <a:p>
            <a:pPr indent="0" marL="0">
              <a:buNone/>
            </a:pPr>
            <a:r>
              <a:rPr lang="en-US" sz="1100" dirty="0">
                <a:solidFill>
                  <a:srgbClr val="8B949E"/>
                </a:solidFill>
                <a:latin typeface="Calibri" pitchFamily="34" charset="0"/>
                <a:ea typeface="Calibri" pitchFamily="34" charset="-122"/>
                <a:cs typeface="Calibri" pitchFamily="34" charset="-120"/>
              </a:rPr>
              <a:t>Fichier source vide</a:t>
            </a:r>
            <a:endParaRPr lang="en-US" sz="1100" dirty="0"/>
          </a:p>
        </p:txBody>
      </p:sp>
      <p:sp>
        <p:nvSpPr>
          <p:cNvPr id="20" name="Shape 18"/>
          <p:cNvSpPr/>
          <p:nvPr/>
        </p:nvSpPr>
        <p:spPr>
          <a:xfrm>
            <a:off x="548640" y="4892040"/>
            <a:ext cx="5394960" cy="1371600"/>
          </a:xfrm>
          <a:prstGeom prst="roundRect">
            <a:avLst>
              <a:gd name="adj" fmla="val 5333"/>
            </a:avLst>
          </a:prstGeom>
          <a:solidFill>
            <a:srgbClr val="161B22"/>
          </a:solidFill>
          <a:ln w="12700">
            <a:solidFill>
              <a:srgbClr val="2A2F38"/>
            </a:solidFill>
            <a:prstDash val="solid"/>
          </a:ln>
        </p:spPr>
      </p:sp>
      <p:sp>
        <p:nvSpPr>
          <p:cNvPr id="21" name="Shape 19"/>
          <p:cNvSpPr/>
          <p:nvPr/>
        </p:nvSpPr>
        <p:spPr>
          <a:xfrm>
            <a:off x="822960" y="5166360"/>
            <a:ext cx="128016" cy="128016"/>
          </a:xfrm>
          <a:prstGeom prst="ellipse">
            <a:avLst/>
          </a:prstGeom>
          <a:solidFill>
            <a:srgbClr val="22C55E"/>
          </a:solidFill>
          <a:ln/>
        </p:spPr>
      </p:sp>
      <p:sp>
        <p:nvSpPr>
          <p:cNvPr id="22" name="Text 20"/>
          <p:cNvSpPr txBox="1"/>
          <p:nvPr/>
        </p:nvSpPr>
        <p:spPr>
          <a:xfrm>
            <a:off x="1051560" y="5056632"/>
            <a:ext cx="4663440" cy="365760"/>
          </a:xfrm>
          <a:prstGeom prst="rect">
            <a:avLst/>
          </a:prstGeom>
          <a:noFill/>
          <a:ln/>
        </p:spPr>
        <p:txBody>
          <a:bodyPr wrap="square" lIns="0" tIns="0" rIns="0" bIns="0" rtlCol="0" anchor="ctr"/>
          <a:lstStyle/>
          <a:p>
            <a:pPr indent="0" marL="0">
              <a:buNone/>
            </a:pPr>
            <a:r>
              <a:rPr lang="en-US" sz="1400" b="1" dirty="0">
                <a:solidFill>
                  <a:srgbClr val="E6E6E6"/>
                </a:solidFill>
                <a:latin typeface="Calibri" pitchFamily="34" charset="0"/>
                <a:ea typeface="Calibri" pitchFamily="34" charset="-122"/>
                <a:cs typeface="Calibri" pitchFamily="34" charset="-120"/>
              </a:rPr>
              <a:t>Démographie</a:t>
            </a:r>
            <a:endParaRPr lang="en-US" sz="1400" dirty="0"/>
          </a:p>
        </p:txBody>
      </p:sp>
      <p:sp>
        <p:nvSpPr>
          <p:cNvPr id="23" name="Text 21"/>
          <p:cNvSpPr txBox="1"/>
          <p:nvPr/>
        </p:nvSpPr>
        <p:spPr>
          <a:xfrm>
            <a:off x="822960" y="5486400"/>
            <a:ext cx="4846320" cy="640080"/>
          </a:xfrm>
          <a:prstGeom prst="rect">
            <a:avLst/>
          </a:prstGeom>
          <a:noFill/>
          <a:ln/>
        </p:spPr>
        <p:txBody>
          <a:bodyPr wrap="square" lIns="0" tIns="0" rIns="0" bIns="0" rtlCol="0" anchor="ctr"/>
          <a:lstStyle/>
          <a:p>
            <a:pPr indent="0" marL="0">
              <a:buNone/>
            </a:pPr>
            <a:r>
              <a:rPr lang="en-US" sz="1100" dirty="0">
                <a:solidFill>
                  <a:srgbClr val="8B949E"/>
                </a:solidFill>
                <a:latin typeface="Calibri" pitchFamily="34" charset="0"/>
                <a:ea typeface="Calibri" pitchFamily="34" charset="-122"/>
                <a:cs typeface="Calibri" pitchFamily="34" charset="-120"/>
              </a:rPr>
              <a:t>Recensement 2022 (39 préfectures) + WorldPop 100m</a:t>
            </a:r>
            <a:endParaRPr lang="en-US" sz="1100" dirty="0"/>
          </a:p>
        </p:txBody>
      </p:sp>
      <p:sp>
        <p:nvSpPr>
          <p:cNvPr id="24" name="Shape 22"/>
          <p:cNvSpPr/>
          <p:nvPr/>
        </p:nvSpPr>
        <p:spPr>
          <a:xfrm>
            <a:off x="6217920" y="4892040"/>
            <a:ext cx="5394960" cy="1371600"/>
          </a:xfrm>
          <a:prstGeom prst="roundRect">
            <a:avLst>
              <a:gd name="adj" fmla="val 5333"/>
            </a:avLst>
          </a:prstGeom>
          <a:solidFill>
            <a:srgbClr val="161B22"/>
          </a:solidFill>
          <a:ln w="12700">
            <a:solidFill>
              <a:srgbClr val="2A2F38"/>
            </a:solidFill>
            <a:prstDash val="solid"/>
          </a:ln>
        </p:spPr>
      </p:sp>
      <p:sp>
        <p:nvSpPr>
          <p:cNvPr id="25" name="Shape 23"/>
          <p:cNvSpPr/>
          <p:nvPr/>
        </p:nvSpPr>
        <p:spPr>
          <a:xfrm>
            <a:off x="6492240" y="5166360"/>
            <a:ext cx="128016" cy="128016"/>
          </a:xfrm>
          <a:prstGeom prst="ellipse">
            <a:avLst/>
          </a:prstGeom>
          <a:solidFill>
            <a:srgbClr val="22C55E"/>
          </a:solidFill>
          <a:ln/>
        </p:spPr>
      </p:sp>
      <p:sp>
        <p:nvSpPr>
          <p:cNvPr id="26" name="Text 24"/>
          <p:cNvSpPr txBox="1"/>
          <p:nvPr/>
        </p:nvSpPr>
        <p:spPr>
          <a:xfrm>
            <a:off x="6720840" y="5056632"/>
            <a:ext cx="4663440" cy="365760"/>
          </a:xfrm>
          <a:prstGeom prst="rect">
            <a:avLst/>
          </a:prstGeom>
          <a:noFill/>
          <a:ln/>
        </p:spPr>
        <p:txBody>
          <a:bodyPr wrap="square" lIns="0" tIns="0" rIns="0" bIns="0" rtlCol="0" anchor="ctr"/>
          <a:lstStyle/>
          <a:p>
            <a:pPr indent="0" marL="0">
              <a:buNone/>
            </a:pPr>
            <a:r>
              <a:rPr lang="en-US" sz="1400" b="1" dirty="0">
                <a:solidFill>
                  <a:srgbClr val="E6E6E6"/>
                </a:solidFill>
                <a:latin typeface="Calibri" pitchFamily="34" charset="0"/>
                <a:ea typeface="Calibri" pitchFamily="34" charset="-122"/>
                <a:cs typeface="Calibri" pitchFamily="34" charset="-120"/>
              </a:rPr>
              <a:t>Limites administratives</a:t>
            </a:r>
            <a:endParaRPr lang="en-US" sz="1400" dirty="0"/>
          </a:p>
        </p:txBody>
      </p:sp>
      <p:sp>
        <p:nvSpPr>
          <p:cNvPr id="27" name="Text 25"/>
          <p:cNvSpPr txBox="1"/>
          <p:nvPr/>
        </p:nvSpPr>
        <p:spPr>
          <a:xfrm>
            <a:off x="6492240" y="5486400"/>
            <a:ext cx="4846320" cy="640080"/>
          </a:xfrm>
          <a:prstGeom prst="rect">
            <a:avLst/>
          </a:prstGeom>
          <a:noFill/>
          <a:ln/>
        </p:spPr>
        <p:txBody>
          <a:bodyPr wrap="square" lIns="0" tIns="0" rIns="0" bIns="0" rtlCol="0" anchor="ctr"/>
          <a:lstStyle/>
          <a:p>
            <a:pPr indent="0" marL="0">
              <a:buNone/>
            </a:pPr>
            <a:r>
              <a:rPr lang="en-US" sz="1100" dirty="0">
                <a:solidFill>
                  <a:srgbClr val="8B949E"/>
                </a:solidFill>
                <a:latin typeface="Calibri" pitchFamily="34" charset="0"/>
                <a:ea typeface="Calibri" pitchFamily="34" charset="-122"/>
                <a:cs typeface="Calibri" pitchFamily="34" charset="-120"/>
              </a:rPr>
              <a:t>geoBoundaries — 37 zones (fusion Agoè-Nyivé/Golfe)</a:t>
            </a:r>
            <a:endParaRPr lang="en-US" sz="1100" dirty="0"/>
          </a:p>
        </p:txBody>
      </p:sp>
      <p:sp>
        <p:nvSpPr>
          <p:cNvPr id="28" name="Text 26"/>
          <p:cNvSpPr txBox="1"/>
          <p:nvPr/>
        </p:nvSpPr>
        <p:spPr>
          <a:xfrm>
            <a:off x="457200" y="6537960"/>
            <a:ext cx="7315200" cy="274320"/>
          </a:xfrm>
          <a:prstGeom prst="rect">
            <a:avLst/>
          </a:prstGeom>
          <a:noFill/>
          <a:ln/>
        </p:spPr>
        <p:txBody>
          <a:bodyPr wrap="square" lIns="0" tIns="0" rIns="0" bIns="0" rtlCol="0" anchor="ctr"/>
          <a:lstStyle/>
          <a:p>
            <a:pPr indent="0" marL="0">
              <a:buNone/>
            </a:pPr>
            <a:r>
              <a:rPr lang="en-US" sz="900" dirty="0">
                <a:solidFill>
                  <a:srgbClr val="8B949E"/>
                </a:solidFill>
                <a:latin typeface="Calibri" pitchFamily="34" charset="0"/>
                <a:ea typeface="Calibri" pitchFamily="34" charset="-122"/>
                <a:cs typeface="Calibri" pitchFamily="34" charset="-120"/>
              </a:rPr>
              <a:t>Défi 1 · Économie Numérique — Togo AI Lab</a:t>
            </a:r>
            <a:endParaRPr lang="en-US" sz="900" dirty="0"/>
          </a:p>
        </p:txBody>
      </p:sp>
      <p:sp>
        <p:nvSpPr>
          <p:cNvPr id="29" name="Text 27"/>
          <p:cNvSpPr txBox="1"/>
          <p:nvPr/>
        </p:nvSpPr>
        <p:spPr>
          <a:xfrm>
            <a:off x="11521440" y="6537960"/>
            <a:ext cx="365760" cy="274320"/>
          </a:xfrm>
          <a:prstGeom prst="rect">
            <a:avLst/>
          </a:prstGeom>
          <a:noFill/>
          <a:ln/>
        </p:spPr>
        <p:txBody>
          <a:bodyPr wrap="square" lIns="0" tIns="0" rIns="0" bIns="0" rtlCol="0" anchor="ctr"/>
          <a:lstStyle/>
          <a:p>
            <a:pPr algn="r" indent="0" marL="0">
              <a:buNone/>
            </a:pPr>
            <a:r>
              <a:rPr lang="en-US" sz="900" dirty="0">
                <a:solidFill>
                  <a:srgbClr val="8B949E"/>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E1117"/>
        </a:solidFill>
      </p:bgPr>
    </p:bg>
    <p:spTree>
      <p:nvGrpSpPr>
        <p:cNvPr id="1" name=""/>
        <p:cNvGrpSpPr/>
        <p:nvPr/>
      </p:nvGrpSpPr>
      <p:grpSpPr>
        <a:xfrm>
          <a:off x="0" y="0"/>
          <a:ext cx="0" cy="0"/>
          <a:chOff x="0" y="0"/>
          <a:chExt cx="0" cy="0"/>
        </a:xfrm>
      </p:grpSpPr>
      <p:sp>
        <p:nvSpPr>
          <p:cNvPr id="2" name="Text 0"/>
          <p:cNvSpPr txBox="1"/>
          <p:nvPr/>
        </p:nvSpPr>
        <p:spPr>
          <a:xfrm>
            <a:off x="548640" y="411480"/>
            <a:ext cx="5486400" cy="320040"/>
          </a:xfrm>
          <a:prstGeom prst="rect">
            <a:avLst/>
          </a:prstGeom>
          <a:noFill/>
          <a:ln/>
        </p:spPr>
        <p:txBody>
          <a:bodyPr wrap="square" lIns="0" tIns="0" rIns="0" bIns="0" rtlCol="0" anchor="ctr"/>
          <a:lstStyle/>
          <a:p>
            <a:pPr indent="0" marL="0">
              <a:buNone/>
            </a:pPr>
            <a:r>
              <a:rPr lang="en-US" sz="1200" b="1" spc="200" kern="0" dirty="0">
                <a:solidFill>
                  <a:srgbClr val="22C55E"/>
                </a:solidFill>
                <a:latin typeface="Calibri" pitchFamily="34" charset="0"/>
                <a:ea typeface="Calibri" pitchFamily="34" charset="-122"/>
                <a:cs typeface="Calibri" pitchFamily="34" charset="-120"/>
              </a:rPr>
              <a:t>SYNTHÈSE NATIONALE</a:t>
            </a:r>
            <a:endParaRPr lang="en-US" sz="1200" dirty="0"/>
          </a:p>
        </p:txBody>
      </p:sp>
      <p:sp>
        <p:nvSpPr>
          <p:cNvPr id="3" name="Text 1"/>
          <p:cNvSpPr txBox="1"/>
          <p:nvPr/>
        </p:nvSpPr>
        <p:spPr>
          <a:xfrm>
            <a:off x="548640" y="731520"/>
            <a:ext cx="10972800" cy="640080"/>
          </a:xfrm>
          <a:prstGeom prst="rect">
            <a:avLst/>
          </a:prstGeom>
          <a:noFill/>
          <a:ln/>
        </p:spPr>
        <p:txBody>
          <a:bodyPr wrap="square" lIns="0" tIns="0" rIns="0" bIns="0" rtlCol="0" anchor="ctr"/>
          <a:lstStyle/>
          <a:p>
            <a:pPr indent="0" marL="0">
              <a:buNone/>
            </a:pPr>
            <a:r>
              <a:rPr lang="en-US" sz="2800" b="1" dirty="0">
                <a:solidFill>
                  <a:srgbClr val="E6E6E6"/>
                </a:solidFill>
                <a:latin typeface="Century Schoolbook" pitchFamily="34" charset="0"/>
                <a:ea typeface="Century Schoolbook" pitchFamily="34" charset="-122"/>
                <a:cs typeface="Century Schoolbook" pitchFamily="34" charset="-120"/>
              </a:rPr>
              <a:t>Diagnostic en un coup d'œil</a:t>
            </a:r>
            <a:endParaRPr lang="en-US" sz="2800" dirty="0"/>
          </a:p>
        </p:txBody>
      </p:sp>
      <p:sp>
        <p:nvSpPr>
          <p:cNvPr id="4" name="Shape 2"/>
          <p:cNvSpPr/>
          <p:nvPr/>
        </p:nvSpPr>
        <p:spPr>
          <a:xfrm>
            <a:off x="548640" y="1737360"/>
            <a:ext cx="2606040" cy="1828800"/>
          </a:xfrm>
          <a:prstGeom prst="roundRect">
            <a:avLst>
              <a:gd name="adj" fmla="val 4000"/>
            </a:avLst>
          </a:prstGeom>
          <a:solidFill>
            <a:srgbClr val="161B22"/>
          </a:solidFill>
          <a:ln w="12700">
            <a:solidFill>
              <a:srgbClr val="2A2F38"/>
            </a:solidFill>
            <a:prstDash val="solid"/>
          </a:ln>
        </p:spPr>
      </p:sp>
      <p:sp>
        <p:nvSpPr>
          <p:cNvPr id="5" name="Text 3"/>
          <p:cNvSpPr txBox="1"/>
          <p:nvPr/>
        </p:nvSpPr>
        <p:spPr>
          <a:xfrm>
            <a:off x="731520" y="2057400"/>
            <a:ext cx="2240280" cy="731520"/>
          </a:xfrm>
          <a:prstGeom prst="rect">
            <a:avLst/>
          </a:prstGeom>
          <a:noFill/>
          <a:ln/>
        </p:spPr>
        <p:txBody>
          <a:bodyPr wrap="square" lIns="0" tIns="0" rIns="0" bIns="0" rtlCol="0" anchor="ctr"/>
          <a:lstStyle/>
          <a:p>
            <a:pPr indent="0" marL="0">
              <a:buNone/>
            </a:pPr>
            <a:r>
              <a:rPr lang="en-US" sz="3200" b="1" dirty="0">
                <a:solidFill>
                  <a:srgbClr val="EF4444"/>
                </a:solidFill>
                <a:latin typeface="Century Schoolbook" pitchFamily="34" charset="0"/>
                <a:ea typeface="Century Schoolbook" pitchFamily="34" charset="-122"/>
                <a:cs typeface="Century Schoolbook" pitchFamily="34" charset="-120"/>
              </a:rPr>
              <a:t>12 / 39</a:t>
            </a:r>
            <a:endParaRPr lang="en-US" sz="3200" dirty="0"/>
          </a:p>
        </p:txBody>
      </p:sp>
      <p:sp>
        <p:nvSpPr>
          <p:cNvPr id="6" name="Text 4"/>
          <p:cNvSpPr txBox="1"/>
          <p:nvPr/>
        </p:nvSpPr>
        <p:spPr>
          <a:xfrm>
            <a:off x="731520" y="2880360"/>
            <a:ext cx="2240280" cy="594360"/>
          </a:xfrm>
          <a:prstGeom prst="rect">
            <a:avLst/>
          </a:prstGeom>
          <a:noFill/>
          <a:ln/>
        </p:spPr>
        <p:txBody>
          <a:bodyPr wrap="square" lIns="0" tIns="0" rIns="0" bIns="0" rtlCol="0" anchor="ctr"/>
          <a:lstStyle/>
          <a:p>
            <a:pPr indent="0" marL="0">
              <a:buNone/>
            </a:pPr>
            <a:r>
              <a:rPr lang="en-US" sz="1200" dirty="0">
                <a:solidFill>
                  <a:srgbClr val="8B949E"/>
                </a:solidFill>
                <a:latin typeface="Calibri" pitchFamily="34" charset="0"/>
                <a:ea typeface="Calibri" pitchFamily="34" charset="-122"/>
                <a:cs typeface="Calibri" pitchFamily="34" charset="-120"/>
              </a:rPr>
              <a:t>Préfectures sans agence télécom</a:t>
            </a:r>
            <a:endParaRPr lang="en-US" sz="1200" dirty="0"/>
          </a:p>
        </p:txBody>
      </p:sp>
      <p:sp>
        <p:nvSpPr>
          <p:cNvPr id="7" name="Shape 5"/>
          <p:cNvSpPr/>
          <p:nvPr/>
        </p:nvSpPr>
        <p:spPr>
          <a:xfrm>
            <a:off x="3383280" y="1737360"/>
            <a:ext cx="2606040" cy="1828800"/>
          </a:xfrm>
          <a:prstGeom prst="roundRect">
            <a:avLst>
              <a:gd name="adj" fmla="val 4000"/>
            </a:avLst>
          </a:prstGeom>
          <a:solidFill>
            <a:srgbClr val="161B22"/>
          </a:solidFill>
          <a:ln w="12700">
            <a:solidFill>
              <a:srgbClr val="2A2F38"/>
            </a:solidFill>
            <a:prstDash val="solid"/>
          </a:ln>
        </p:spPr>
      </p:sp>
      <p:sp>
        <p:nvSpPr>
          <p:cNvPr id="8" name="Text 6"/>
          <p:cNvSpPr txBox="1"/>
          <p:nvPr/>
        </p:nvSpPr>
        <p:spPr>
          <a:xfrm>
            <a:off x="3566160" y="2057400"/>
            <a:ext cx="2240280" cy="731520"/>
          </a:xfrm>
          <a:prstGeom prst="rect">
            <a:avLst/>
          </a:prstGeom>
          <a:noFill/>
          <a:ln/>
        </p:spPr>
        <p:txBody>
          <a:bodyPr wrap="square" lIns="0" tIns="0" rIns="0" bIns="0" rtlCol="0" anchor="ctr"/>
          <a:lstStyle/>
          <a:p>
            <a:pPr indent="0" marL="0">
              <a:buNone/>
            </a:pPr>
            <a:r>
              <a:rPr lang="en-US" sz="3200" b="1" dirty="0">
                <a:solidFill>
                  <a:srgbClr val="22C55E"/>
                </a:solidFill>
                <a:latin typeface="Century Schoolbook" pitchFamily="34" charset="0"/>
                <a:ea typeface="Century Schoolbook" pitchFamily="34" charset="-122"/>
                <a:cs typeface="Century Schoolbook" pitchFamily="34" charset="-120"/>
              </a:rPr>
              <a:t>90</a:t>
            </a:r>
            <a:endParaRPr lang="en-US" sz="3200" dirty="0"/>
          </a:p>
        </p:txBody>
      </p:sp>
      <p:sp>
        <p:nvSpPr>
          <p:cNvPr id="9" name="Text 7"/>
          <p:cNvSpPr txBox="1"/>
          <p:nvPr/>
        </p:nvSpPr>
        <p:spPr>
          <a:xfrm>
            <a:off x="3566160" y="2880360"/>
            <a:ext cx="2240280" cy="594360"/>
          </a:xfrm>
          <a:prstGeom prst="rect">
            <a:avLst/>
          </a:prstGeom>
          <a:noFill/>
          <a:ln/>
        </p:spPr>
        <p:txBody>
          <a:bodyPr wrap="square" lIns="0" tIns="0" rIns="0" bIns="0" rtlCol="0" anchor="ctr"/>
          <a:lstStyle/>
          <a:p>
            <a:pPr indent="0" marL="0">
              <a:buNone/>
            </a:pPr>
            <a:r>
              <a:rPr lang="en-US" sz="1200" dirty="0">
                <a:solidFill>
                  <a:srgbClr val="8B949E"/>
                </a:solidFill>
                <a:latin typeface="Calibri" pitchFamily="34" charset="0"/>
                <a:ea typeface="Calibri" pitchFamily="34" charset="-122"/>
                <a:cs typeface="Calibri" pitchFamily="34" charset="-120"/>
              </a:rPr>
              <a:t>Agences (Togocom + Moov)</a:t>
            </a:r>
            <a:endParaRPr lang="en-US" sz="1200" dirty="0"/>
          </a:p>
        </p:txBody>
      </p:sp>
      <p:sp>
        <p:nvSpPr>
          <p:cNvPr id="10" name="Shape 8"/>
          <p:cNvSpPr/>
          <p:nvPr/>
        </p:nvSpPr>
        <p:spPr>
          <a:xfrm>
            <a:off x="6217920" y="1737360"/>
            <a:ext cx="2606040" cy="1828800"/>
          </a:xfrm>
          <a:prstGeom prst="roundRect">
            <a:avLst>
              <a:gd name="adj" fmla="val 4000"/>
            </a:avLst>
          </a:prstGeom>
          <a:solidFill>
            <a:srgbClr val="161B22"/>
          </a:solidFill>
          <a:ln w="12700">
            <a:solidFill>
              <a:srgbClr val="2A2F38"/>
            </a:solidFill>
            <a:prstDash val="solid"/>
          </a:ln>
        </p:spPr>
      </p:sp>
      <p:sp>
        <p:nvSpPr>
          <p:cNvPr id="11" name="Text 9"/>
          <p:cNvSpPr txBox="1"/>
          <p:nvPr/>
        </p:nvSpPr>
        <p:spPr>
          <a:xfrm>
            <a:off x="6400800" y="2057400"/>
            <a:ext cx="2240280" cy="731520"/>
          </a:xfrm>
          <a:prstGeom prst="rect">
            <a:avLst/>
          </a:prstGeom>
          <a:noFill/>
          <a:ln/>
        </p:spPr>
        <p:txBody>
          <a:bodyPr wrap="square" lIns="0" tIns="0" rIns="0" bIns="0" rtlCol="0" anchor="ctr"/>
          <a:lstStyle/>
          <a:p>
            <a:pPr indent="0" marL="0">
              <a:buNone/>
            </a:pPr>
            <a:r>
              <a:rPr lang="en-US" sz="3200" b="1" dirty="0">
                <a:solidFill>
                  <a:srgbClr val="22C55E"/>
                </a:solidFill>
                <a:latin typeface="Century Schoolbook" pitchFamily="34" charset="0"/>
                <a:ea typeface="Century Schoolbook" pitchFamily="34" charset="-122"/>
                <a:cs typeface="Century Schoolbook" pitchFamily="34" charset="-120"/>
              </a:rPr>
              <a:t>19 788</a:t>
            </a:r>
            <a:endParaRPr lang="en-US" sz="3200" dirty="0"/>
          </a:p>
        </p:txBody>
      </p:sp>
      <p:sp>
        <p:nvSpPr>
          <p:cNvPr id="12" name="Text 10"/>
          <p:cNvSpPr txBox="1"/>
          <p:nvPr/>
        </p:nvSpPr>
        <p:spPr>
          <a:xfrm>
            <a:off x="6400800" y="2880360"/>
            <a:ext cx="2240280" cy="594360"/>
          </a:xfrm>
          <a:prstGeom prst="rect">
            <a:avLst/>
          </a:prstGeom>
          <a:noFill/>
          <a:ln/>
        </p:spPr>
        <p:txBody>
          <a:bodyPr wrap="square" lIns="0" tIns="0" rIns="0" bIns="0" rtlCol="0" anchor="ctr"/>
          <a:lstStyle/>
          <a:p>
            <a:pPr indent="0" marL="0">
              <a:buNone/>
            </a:pPr>
            <a:r>
              <a:rPr lang="en-US" sz="1200" dirty="0">
                <a:solidFill>
                  <a:srgbClr val="8B949E"/>
                </a:solidFill>
                <a:latin typeface="Calibri" pitchFamily="34" charset="0"/>
                <a:ea typeface="Calibri" pitchFamily="34" charset="-122"/>
                <a:cs typeface="Calibri" pitchFamily="34" charset="-120"/>
              </a:rPr>
              <a:t>Points mobile money</a:t>
            </a:r>
            <a:endParaRPr lang="en-US" sz="1200" dirty="0"/>
          </a:p>
        </p:txBody>
      </p:sp>
      <p:sp>
        <p:nvSpPr>
          <p:cNvPr id="13" name="Shape 11"/>
          <p:cNvSpPr/>
          <p:nvPr/>
        </p:nvSpPr>
        <p:spPr>
          <a:xfrm>
            <a:off x="9052560" y="1737360"/>
            <a:ext cx="2606040" cy="1828800"/>
          </a:xfrm>
          <a:prstGeom prst="roundRect">
            <a:avLst>
              <a:gd name="adj" fmla="val 4000"/>
            </a:avLst>
          </a:prstGeom>
          <a:solidFill>
            <a:srgbClr val="161B22"/>
          </a:solidFill>
          <a:ln w="12700">
            <a:solidFill>
              <a:srgbClr val="2A2F38"/>
            </a:solidFill>
            <a:prstDash val="solid"/>
          </a:ln>
        </p:spPr>
      </p:sp>
      <p:sp>
        <p:nvSpPr>
          <p:cNvPr id="14" name="Text 12"/>
          <p:cNvSpPr txBox="1"/>
          <p:nvPr/>
        </p:nvSpPr>
        <p:spPr>
          <a:xfrm>
            <a:off x="9235440" y="2057400"/>
            <a:ext cx="2240280" cy="731520"/>
          </a:xfrm>
          <a:prstGeom prst="rect">
            <a:avLst/>
          </a:prstGeom>
          <a:noFill/>
          <a:ln/>
        </p:spPr>
        <p:txBody>
          <a:bodyPr wrap="square" lIns="0" tIns="0" rIns="0" bIns="0" rtlCol="0" anchor="ctr"/>
          <a:lstStyle/>
          <a:p>
            <a:pPr indent="0" marL="0">
              <a:buNone/>
            </a:pPr>
            <a:r>
              <a:rPr lang="en-US" sz="3200" b="1" dirty="0">
                <a:solidFill>
                  <a:srgbClr val="EF4444"/>
                </a:solidFill>
                <a:latin typeface="Century Schoolbook" pitchFamily="34" charset="0"/>
                <a:ea typeface="Century Schoolbook" pitchFamily="34" charset="-122"/>
                <a:cs typeface="Century Schoolbook" pitchFamily="34" charset="-120"/>
              </a:rPr>
              <a:t>326 / 372</a:t>
            </a:r>
            <a:endParaRPr lang="en-US" sz="3200" dirty="0"/>
          </a:p>
        </p:txBody>
      </p:sp>
      <p:sp>
        <p:nvSpPr>
          <p:cNvPr id="15" name="Text 13"/>
          <p:cNvSpPr txBox="1"/>
          <p:nvPr/>
        </p:nvSpPr>
        <p:spPr>
          <a:xfrm>
            <a:off x="9235440" y="2880360"/>
            <a:ext cx="2240280" cy="594360"/>
          </a:xfrm>
          <a:prstGeom prst="rect">
            <a:avLst/>
          </a:prstGeom>
          <a:noFill/>
          <a:ln/>
        </p:spPr>
        <p:txBody>
          <a:bodyPr wrap="square" lIns="0" tIns="0" rIns="0" bIns="0" rtlCol="0" anchor="ctr"/>
          <a:lstStyle/>
          <a:p>
            <a:pPr indent="0" marL="0">
              <a:buNone/>
            </a:pPr>
            <a:r>
              <a:rPr lang="en-US" sz="1200" dirty="0">
                <a:solidFill>
                  <a:srgbClr val="8B949E"/>
                </a:solidFill>
                <a:latin typeface="Calibri" pitchFamily="34" charset="0"/>
                <a:ea typeface="Calibri" pitchFamily="34" charset="-122"/>
                <a:cs typeface="Calibri" pitchFamily="34" charset="-120"/>
              </a:rPr>
              <a:t>Cantons sans agence (88 %)</a:t>
            </a:r>
            <a:endParaRPr lang="en-US" sz="1200" dirty="0"/>
          </a:p>
        </p:txBody>
      </p:sp>
      <p:sp>
        <p:nvSpPr>
          <p:cNvPr id="16" name="Shape 14"/>
          <p:cNvSpPr/>
          <p:nvPr/>
        </p:nvSpPr>
        <p:spPr>
          <a:xfrm>
            <a:off x="548640" y="3977640"/>
            <a:ext cx="11064240" cy="1965960"/>
          </a:xfrm>
          <a:prstGeom prst="roundRect">
            <a:avLst>
              <a:gd name="adj" fmla="val 3721"/>
            </a:avLst>
          </a:prstGeom>
          <a:solidFill>
            <a:srgbClr val="161B22"/>
          </a:solidFill>
          <a:ln w="12700">
            <a:solidFill>
              <a:srgbClr val="22C55E"/>
            </a:solidFill>
            <a:prstDash val="solid"/>
          </a:ln>
        </p:spPr>
      </p:sp>
      <p:sp>
        <p:nvSpPr>
          <p:cNvPr id="17" name="Text 15"/>
          <p:cNvSpPr txBox="1"/>
          <p:nvPr/>
        </p:nvSpPr>
        <p:spPr>
          <a:xfrm>
            <a:off x="868680" y="4206240"/>
            <a:ext cx="10058400" cy="365760"/>
          </a:xfrm>
          <a:prstGeom prst="rect">
            <a:avLst/>
          </a:prstGeom>
          <a:noFill/>
          <a:ln/>
        </p:spPr>
        <p:txBody>
          <a:bodyPr wrap="square" lIns="0" tIns="0" rIns="0" bIns="0" rtlCol="0" anchor="ctr"/>
          <a:lstStyle/>
          <a:p>
            <a:pPr indent="0" marL="0">
              <a:buNone/>
            </a:pPr>
            <a:r>
              <a:rPr lang="en-US" sz="1400" b="1" dirty="0">
                <a:solidFill>
                  <a:srgbClr val="22C55E"/>
                </a:solidFill>
                <a:latin typeface="Calibri" pitchFamily="34" charset="0"/>
                <a:ea typeface="Calibri" pitchFamily="34" charset="-122"/>
                <a:cs typeface="Calibri" pitchFamily="34" charset="-120"/>
              </a:rPr>
              <a:t>Constat principal</a:t>
            </a:r>
            <a:endParaRPr lang="en-US" sz="1400" dirty="0"/>
          </a:p>
        </p:txBody>
      </p:sp>
      <p:sp>
        <p:nvSpPr>
          <p:cNvPr id="18" name="Text 16"/>
          <p:cNvSpPr txBox="1"/>
          <p:nvPr/>
        </p:nvSpPr>
        <p:spPr>
          <a:xfrm>
            <a:off x="868680" y="4663440"/>
            <a:ext cx="10424160" cy="1188720"/>
          </a:xfrm>
          <a:prstGeom prst="rect">
            <a:avLst/>
          </a:prstGeom>
          <a:noFill/>
          <a:ln/>
        </p:spPr>
        <p:txBody>
          <a:bodyPr wrap="square" lIns="0" tIns="0" rIns="0" bIns="0" rtlCol="0" anchor="ctr"/>
          <a:lstStyle/>
          <a:p>
            <a:pPr indent="0" marL="0">
              <a:lnSpc>
                <a:spcPct val="125000"/>
              </a:lnSpc>
              <a:buNone/>
            </a:pPr>
            <a:r>
              <a:rPr lang="en-US" sz="1400" dirty="0">
                <a:solidFill>
                  <a:srgbClr val="E6E6E6"/>
                </a:solidFill>
                <a:latin typeface="Calibri" pitchFamily="34" charset="0"/>
                <a:ea typeface="Calibri" pitchFamily="34" charset="-122"/>
                <a:cs typeface="Calibri" pitchFamily="34" charset="-120"/>
              </a:rPr>
              <a:t>12 préfectures n'ont aucune agence télécom — dont Lacs et Vo, qui comptent à elles seules plus de 460 000 habitants. À l'échelle des cantons, l'écart se creuse encore : 326 cantons sur 372 (88 % du territoire) n'ont aucune agence recensée. L'absence d'infrastructure n'est donc pas systématiquement liée à une faible population.</a:t>
            </a:r>
            <a:endParaRPr lang="en-US" sz="1400" dirty="0"/>
          </a:p>
        </p:txBody>
      </p:sp>
      <p:sp>
        <p:nvSpPr>
          <p:cNvPr id="19" name="Text 17"/>
          <p:cNvSpPr txBox="1"/>
          <p:nvPr/>
        </p:nvSpPr>
        <p:spPr>
          <a:xfrm>
            <a:off x="457200" y="6537960"/>
            <a:ext cx="7315200" cy="274320"/>
          </a:xfrm>
          <a:prstGeom prst="rect">
            <a:avLst/>
          </a:prstGeom>
          <a:noFill/>
          <a:ln/>
        </p:spPr>
        <p:txBody>
          <a:bodyPr wrap="square" lIns="0" tIns="0" rIns="0" bIns="0" rtlCol="0" anchor="ctr"/>
          <a:lstStyle/>
          <a:p>
            <a:pPr indent="0" marL="0">
              <a:buNone/>
            </a:pPr>
            <a:r>
              <a:rPr lang="en-US" sz="900" dirty="0">
                <a:solidFill>
                  <a:srgbClr val="8B949E"/>
                </a:solidFill>
                <a:latin typeface="Calibri" pitchFamily="34" charset="0"/>
                <a:ea typeface="Calibri" pitchFamily="34" charset="-122"/>
                <a:cs typeface="Calibri" pitchFamily="34" charset="-120"/>
              </a:rPr>
              <a:t>Défi 1 · Économie Numérique — Togo AI Lab</a:t>
            </a:r>
            <a:endParaRPr lang="en-US" sz="900" dirty="0"/>
          </a:p>
        </p:txBody>
      </p:sp>
      <p:sp>
        <p:nvSpPr>
          <p:cNvPr id="20" name="Text 18"/>
          <p:cNvSpPr txBox="1"/>
          <p:nvPr/>
        </p:nvSpPr>
        <p:spPr>
          <a:xfrm>
            <a:off x="11521440" y="6537960"/>
            <a:ext cx="365760" cy="274320"/>
          </a:xfrm>
          <a:prstGeom prst="rect">
            <a:avLst/>
          </a:prstGeom>
          <a:noFill/>
          <a:ln/>
        </p:spPr>
        <p:txBody>
          <a:bodyPr wrap="square" lIns="0" tIns="0" rIns="0" bIns="0" rtlCol="0" anchor="ctr"/>
          <a:lstStyle/>
          <a:p>
            <a:pPr algn="r" indent="0" marL="0">
              <a:buNone/>
            </a:pPr>
            <a:r>
              <a:rPr lang="en-US" sz="900" dirty="0">
                <a:solidFill>
                  <a:srgbClr val="8B949E"/>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E1117"/>
        </a:solidFill>
      </p:bgPr>
    </p:bg>
    <p:spTree>
      <p:nvGrpSpPr>
        <p:cNvPr id="1" name=""/>
        <p:cNvGrpSpPr/>
        <p:nvPr/>
      </p:nvGrpSpPr>
      <p:grpSpPr>
        <a:xfrm>
          <a:off x="0" y="0"/>
          <a:ext cx="0" cy="0"/>
          <a:chOff x="0" y="0"/>
          <a:chExt cx="0" cy="0"/>
        </a:xfrm>
      </p:grpSpPr>
      <p:sp>
        <p:nvSpPr>
          <p:cNvPr id="2" name="Text 0"/>
          <p:cNvSpPr txBox="1"/>
          <p:nvPr/>
        </p:nvSpPr>
        <p:spPr>
          <a:xfrm>
            <a:off x="548640" y="411480"/>
            <a:ext cx="5486400" cy="320040"/>
          </a:xfrm>
          <a:prstGeom prst="rect">
            <a:avLst/>
          </a:prstGeom>
          <a:noFill/>
          <a:ln/>
        </p:spPr>
        <p:txBody>
          <a:bodyPr wrap="square" lIns="0" tIns="0" rIns="0" bIns="0" rtlCol="0" anchor="ctr"/>
          <a:lstStyle/>
          <a:p>
            <a:pPr indent="0" marL="0">
              <a:buNone/>
            </a:pPr>
            <a:r>
              <a:rPr lang="en-US" sz="1200" b="1" spc="200" kern="0" dirty="0">
                <a:solidFill>
                  <a:srgbClr val="22C55E"/>
                </a:solidFill>
                <a:latin typeface="Calibri" pitchFamily="34" charset="0"/>
                <a:ea typeface="Calibri" pitchFamily="34" charset="-122"/>
                <a:cs typeface="Calibri" pitchFamily="34" charset="-120"/>
              </a:rPr>
              <a:t>AXE · INFRASTRUCTURES</a:t>
            </a:r>
            <a:endParaRPr lang="en-US" sz="1200" dirty="0"/>
          </a:p>
        </p:txBody>
      </p:sp>
      <p:sp>
        <p:nvSpPr>
          <p:cNvPr id="3" name="Text 1"/>
          <p:cNvSpPr txBox="1"/>
          <p:nvPr/>
        </p:nvSpPr>
        <p:spPr>
          <a:xfrm>
            <a:off x="548640" y="731520"/>
            <a:ext cx="10972800" cy="640080"/>
          </a:xfrm>
          <a:prstGeom prst="rect">
            <a:avLst/>
          </a:prstGeom>
          <a:noFill/>
          <a:ln/>
        </p:spPr>
        <p:txBody>
          <a:bodyPr wrap="square" lIns="0" tIns="0" rIns="0" bIns="0" rtlCol="0" anchor="ctr"/>
          <a:lstStyle/>
          <a:p>
            <a:pPr indent="0" marL="0">
              <a:buNone/>
            </a:pPr>
            <a:r>
              <a:rPr lang="en-US" sz="2800" b="1" dirty="0">
                <a:solidFill>
                  <a:srgbClr val="E6E6E6"/>
                </a:solidFill>
                <a:latin typeface="Century Schoolbook" pitchFamily="34" charset="0"/>
                <a:ea typeface="Century Schoolbook" pitchFamily="34" charset="-122"/>
                <a:cs typeface="Century Schoolbook" pitchFamily="34" charset="-120"/>
              </a:rPr>
              <a:t>Répartition des agences</a:t>
            </a:r>
            <a:endParaRPr lang="en-US" sz="2800" dirty="0"/>
          </a:p>
        </p:txBody>
      </p:sp>
      <p:sp>
        <p:nvSpPr>
          <p:cNvPr id="4" name="Text 2"/>
          <p:cNvSpPr txBox="1"/>
          <p:nvPr/>
        </p:nvSpPr>
        <p:spPr>
          <a:xfrm>
            <a:off x="548640" y="1600200"/>
            <a:ext cx="5303520" cy="320040"/>
          </a:xfrm>
          <a:prstGeom prst="rect">
            <a:avLst/>
          </a:prstGeom>
          <a:noFill/>
          <a:ln/>
        </p:spPr>
        <p:txBody>
          <a:bodyPr wrap="square" lIns="0" tIns="0" rIns="0" bIns="0" rtlCol="0" anchor="ctr"/>
          <a:lstStyle/>
          <a:p>
            <a:pPr indent="0" marL="0">
              <a:buNone/>
            </a:pPr>
            <a:r>
              <a:rPr lang="en-US" sz="1300" b="1" dirty="0">
                <a:solidFill>
                  <a:srgbClr val="8B949E"/>
                </a:solidFill>
                <a:latin typeface="Calibri" pitchFamily="34" charset="0"/>
                <a:ea typeface="Calibri" pitchFamily="34" charset="-122"/>
                <a:cs typeface="Calibri" pitchFamily="34" charset="-120"/>
              </a:rPr>
              <a:t>Par opérateur</a:t>
            </a:r>
            <a:endParaRPr lang="en-US" sz="1300" dirty="0"/>
          </a:p>
        </p:txBody>
      </p:sp>
      <p:graphicFrame>
        <p:nvGraphicFramePr>
          <p:cNvPr id="5" name="Chart 0" descr=""/>
          <p:cNvGraphicFramePr/>
          <p:nvPr/>
        </p:nvGraphicFramePr>
        <p:xfrm>
          <a:off x="548640" y="1965960"/>
          <a:ext cx="5303520" cy="3291840"/>
        </p:xfrm>
        <a:graphic xmlns:a="http://schemas.openxmlformats.org/drawingml/2006/main">
          <a:graphicData uri="http://schemas.openxmlformats.org/drawingml/2006/chart">
            <c:chart xmlns:c="http://schemas.openxmlformats.org/drawingml/2006/chart" r:id="rId1"/>
          </a:graphicData>
        </a:graphic>
      </p:graphicFrame>
      <p:sp>
        <p:nvSpPr>
          <p:cNvPr id="6" name="Text 3"/>
          <p:cNvSpPr txBox="1"/>
          <p:nvPr/>
        </p:nvSpPr>
        <p:spPr>
          <a:xfrm>
            <a:off x="6309360" y="1600200"/>
            <a:ext cx="5303520" cy="320040"/>
          </a:xfrm>
          <a:prstGeom prst="rect">
            <a:avLst/>
          </a:prstGeom>
          <a:noFill/>
          <a:ln/>
        </p:spPr>
        <p:txBody>
          <a:bodyPr wrap="square" lIns="0" tIns="0" rIns="0" bIns="0" rtlCol="0" anchor="ctr"/>
          <a:lstStyle/>
          <a:p>
            <a:pPr indent="0" marL="0">
              <a:buNone/>
            </a:pPr>
            <a:r>
              <a:rPr lang="en-US" sz="1300" b="1" dirty="0">
                <a:solidFill>
                  <a:srgbClr val="8B949E"/>
                </a:solidFill>
                <a:latin typeface="Calibri" pitchFamily="34" charset="0"/>
                <a:ea typeface="Calibri" pitchFamily="34" charset="-122"/>
                <a:cs typeface="Calibri" pitchFamily="34" charset="-120"/>
              </a:rPr>
              <a:t>Par région</a:t>
            </a:r>
            <a:endParaRPr lang="en-US" sz="1300" dirty="0"/>
          </a:p>
        </p:txBody>
      </p:sp>
      <p:graphicFrame>
        <p:nvGraphicFramePr>
          <p:cNvPr id="7" name="Chart 1" descr=""/>
          <p:cNvGraphicFramePr/>
          <p:nvPr/>
        </p:nvGraphicFramePr>
        <p:xfrm>
          <a:off x="6309360" y="1965960"/>
          <a:ext cx="5303520" cy="3291840"/>
        </p:xfrm>
        <a:graphic xmlns:a="http://schemas.openxmlformats.org/drawingml/2006/main">
          <a:graphicData uri="http://schemas.openxmlformats.org/drawingml/2006/chart">
            <c:chart xmlns:c="http://schemas.openxmlformats.org/drawingml/2006/chart" r:id="rId2"/>
          </a:graphicData>
        </a:graphic>
      </p:graphicFrame>
      <p:sp>
        <p:nvSpPr>
          <p:cNvPr id="8" name="Text 4"/>
          <p:cNvSpPr txBox="1"/>
          <p:nvPr/>
        </p:nvSpPr>
        <p:spPr>
          <a:xfrm>
            <a:off x="457200" y="6537960"/>
            <a:ext cx="7315200" cy="274320"/>
          </a:xfrm>
          <a:prstGeom prst="rect">
            <a:avLst/>
          </a:prstGeom>
          <a:noFill/>
          <a:ln/>
        </p:spPr>
        <p:txBody>
          <a:bodyPr wrap="square" lIns="0" tIns="0" rIns="0" bIns="0" rtlCol="0" anchor="ctr"/>
          <a:lstStyle/>
          <a:p>
            <a:pPr indent="0" marL="0">
              <a:buNone/>
            </a:pPr>
            <a:r>
              <a:rPr lang="en-US" sz="900" dirty="0">
                <a:solidFill>
                  <a:srgbClr val="8B949E"/>
                </a:solidFill>
                <a:latin typeface="Calibri" pitchFamily="34" charset="0"/>
                <a:ea typeface="Calibri" pitchFamily="34" charset="-122"/>
                <a:cs typeface="Calibri" pitchFamily="34" charset="-120"/>
              </a:rPr>
              <a:t>Défi 1 · Économie Numérique — Togo AI Lab</a:t>
            </a:r>
            <a:endParaRPr lang="en-US" sz="900" dirty="0"/>
          </a:p>
        </p:txBody>
      </p:sp>
      <p:sp>
        <p:nvSpPr>
          <p:cNvPr id="9" name="Text 5"/>
          <p:cNvSpPr txBox="1"/>
          <p:nvPr/>
        </p:nvSpPr>
        <p:spPr>
          <a:xfrm>
            <a:off x="11521440" y="6537960"/>
            <a:ext cx="365760" cy="274320"/>
          </a:xfrm>
          <a:prstGeom prst="rect">
            <a:avLst/>
          </a:prstGeom>
          <a:noFill/>
          <a:ln/>
        </p:spPr>
        <p:txBody>
          <a:bodyPr wrap="square" lIns="0" tIns="0" rIns="0" bIns="0" rtlCol="0" anchor="ctr"/>
          <a:lstStyle/>
          <a:p>
            <a:pPr algn="r" indent="0" marL="0">
              <a:buNone/>
            </a:pPr>
            <a:r>
              <a:rPr lang="en-US" sz="900" dirty="0">
                <a:solidFill>
                  <a:srgbClr val="8B949E"/>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E1117"/>
        </a:solidFill>
      </p:bgPr>
    </p:bg>
    <p:spTree>
      <p:nvGrpSpPr>
        <p:cNvPr id="1" name=""/>
        <p:cNvGrpSpPr/>
        <p:nvPr/>
      </p:nvGrpSpPr>
      <p:grpSpPr>
        <a:xfrm>
          <a:off x="0" y="0"/>
          <a:ext cx="0" cy="0"/>
          <a:chOff x="0" y="0"/>
          <a:chExt cx="0" cy="0"/>
        </a:xfrm>
      </p:grpSpPr>
      <p:sp>
        <p:nvSpPr>
          <p:cNvPr id="2" name="Text 0"/>
          <p:cNvSpPr txBox="1"/>
          <p:nvPr/>
        </p:nvSpPr>
        <p:spPr>
          <a:xfrm>
            <a:off x="548640" y="411480"/>
            <a:ext cx="5486400" cy="320040"/>
          </a:xfrm>
          <a:prstGeom prst="rect">
            <a:avLst/>
          </a:prstGeom>
          <a:noFill/>
          <a:ln/>
        </p:spPr>
        <p:txBody>
          <a:bodyPr wrap="square" lIns="0" tIns="0" rIns="0" bIns="0" rtlCol="0" anchor="ctr"/>
          <a:lstStyle/>
          <a:p>
            <a:pPr indent="0" marL="0">
              <a:buNone/>
            </a:pPr>
            <a:r>
              <a:rPr lang="en-US" sz="1200" b="1" spc="200" kern="0" dirty="0">
                <a:solidFill>
                  <a:srgbClr val="22C55E"/>
                </a:solidFill>
                <a:latin typeface="Calibri" pitchFamily="34" charset="0"/>
                <a:ea typeface="Calibri" pitchFamily="34" charset="-122"/>
                <a:cs typeface="Calibri" pitchFamily="34" charset="-120"/>
              </a:rPr>
              <a:t>AXE · COUVERTURE</a:t>
            </a:r>
            <a:endParaRPr lang="en-US" sz="1200" dirty="0"/>
          </a:p>
        </p:txBody>
      </p:sp>
      <p:sp>
        <p:nvSpPr>
          <p:cNvPr id="3" name="Text 1"/>
          <p:cNvSpPr txBox="1"/>
          <p:nvPr/>
        </p:nvSpPr>
        <p:spPr>
          <a:xfrm>
            <a:off x="548640" y="731520"/>
            <a:ext cx="10972800" cy="640080"/>
          </a:xfrm>
          <a:prstGeom prst="rect">
            <a:avLst/>
          </a:prstGeom>
          <a:noFill/>
          <a:ln/>
        </p:spPr>
        <p:txBody>
          <a:bodyPr wrap="square" lIns="0" tIns="0" rIns="0" bIns="0" rtlCol="0" anchor="ctr"/>
          <a:lstStyle/>
          <a:p>
            <a:pPr indent="0" marL="0">
              <a:buNone/>
            </a:pPr>
            <a:r>
              <a:rPr lang="en-US" sz="2800" b="1" dirty="0">
                <a:solidFill>
                  <a:srgbClr val="E6E6E6"/>
                </a:solidFill>
                <a:latin typeface="Century Schoolbook" pitchFamily="34" charset="0"/>
                <a:ea typeface="Century Schoolbook" pitchFamily="34" charset="-122"/>
                <a:cs typeface="Century Schoolbook" pitchFamily="34" charset="-120"/>
              </a:rPr>
              <a:t>Préfectures sans aucune agence</a:t>
            </a:r>
            <a:endParaRPr lang="en-US" sz="28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064240" cy="4206240"/>
        </p:xfrm>
        <a:graphic>
          <a:graphicData uri="http://schemas.openxmlformats.org/drawingml/2006/table">
            <a:tbl>
              <a:tblPr/>
              <a:tblGrid>
                <a:gridCol w="2926080"/>
                <a:gridCol w="2377440"/>
                <a:gridCol w="2926080"/>
                <a:gridCol w="2834640"/>
              </a:tblGrid>
              <a:tr h="502920">
                <a:tc>
                  <a:txBody>
                    <a:bodyPr/>
                    <a:lstStyle/>
                    <a:p>
                      <a:pPr algn="l" indent="0" marL="0">
                        <a:buNone/>
                      </a:pPr>
                      <a:r>
                        <a:rPr lang="en-US" sz="1200" b="1" dirty="0">
                          <a:solidFill>
                            <a:srgbClr val="22C55E"/>
                          </a:solidFill>
                          <a:latin typeface="Calibri" pitchFamily="34" charset="0"/>
                          <a:ea typeface="Calibri" pitchFamily="34" charset="-122"/>
                          <a:cs typeface="Calibri" pitchFamily="34" charset="-120"/>
                        </a:rPr>
                        <a:t>Préfecture</a:t>
                      </a:r>
                      <a:endParaRPr lang="en-US" sz="1200" dirty="0">
                        <a:latin typeface="Calibri" charset="0"/>
                        <a:ea typeface="Calibri" charset="0"/>
                        <a:cs typeface="Calibri" charset="0"/>
                      </a:endParaRPr>
                    </a:p>
                  </a:txBody>
                  <a:tcPr marL="91440" marR="91440" marT="45720" marB="45720" anchor="ctr">
                    <a:lnL w="6350" cap="flat" cmpd="sng" algn="ctr">
                      <a:solidFill>
                        <a:srgbClr val="2A2F38"/>
                      </a:solidFill>
                      <a:prstDash val="solid"/>
                      <a:round/>
                      <a:headEnd type="none" w="med" len="med"/>
                      <a:tailEnd type="none" w="med" len="med"/>
                    </a:lnL>
                    <a:lnR w="6350" cap="flat" cmpd="sng" algn="ctr">
                      <a:solidFill>
                        <a:srgbClr val="2A2F38"/>
                      </a:solidFill>
                      <a:prstDash val="solid"/>
                      <a:round/>
                      <a:headEnd type="none" w="med" len="med"/>
                      <a:tailEnd type="none" w="med" len="med"/>
                    </a:lnR>
                    <a:lnT w="6350" cap="flat" cmpd="sng" algn="ctr">
                      <a:solidFill>
                        <a:srgbClr val="2A2F38"/>
                      </a:solidFill>
                      <a:prstDash val="solid"/>
                      <a:round/>
                      <a:headEnd type="none" w="med" len="med"/>
                      <a:tailEnd type="none" w="med" len="med"/>
                    </a:lnT>
                    <a:lnB w="6350" cap="flat" cmpd="sng" algn="ctr">
                      <a:solidFill>
                        <a:srgbClr val="2A2F38"/>
                      </a:solidFill>
                      <a:prstDash val="solid"/>
                      <a:round/>
                      <a:headEnd type="none" w="med" len="med"/>
                      <a:tailEnd type="none" w="med" len="med"/>
                    </a:lnB>
                    <a:solidFill>
                      <a:srgbClr val="161B22"/>
                    </a:solidFill>
                  </a:tcPr>
                </a:tc>
                <a:tc>
                  <a:txBody>
                    <a:bodyPr/>
                    <a:lstStyle/>
                    <a:p>
                      <a:pPr algn="l" indent="0" marL="0">
                        <a:buNone/>
                      </a:pPr>
                      <a:r>
                        <a:rPr lang="en-US" sz="1200" b="1" dirty="0">
                          <a:solidFill>
                            <a:srgbClr val="22C55E"/>
                          </a:solidFill>
                          <a:latin typeface="Calibri" pitchFamily="34" charset="0"/>
                          <a:ea typeface="Calibri" pitchFamily="34" charset="-122"/>
                          <a:cs typeface="Calibri" pitchFamily="34" charset="-120"/>
                        </a:rPr>
                        <a:t>Région</a:t>
                      </a:r>
                      <a:endParaRPr lang="en-US" sz="1200" dirty="0">
                        <a:latin typeface="Calibri" charset="0"/>
                        <a:ea typeface="Calibri" charset="0"/>
                        <a:cs typeface="Calibri" charset="0"/>
                      </a:endParaRPr>
                    </a:p>
                  </a:txBody>
                  <a:tcPr marL="91440" marR="91440" marT="45720" marB="45720" anchor="ctr">
                    <a:lnL w="6350" cap="flat" cmpd="sng" algn="ctr">
                      <a:solidFill>
                        <a:srgbClr val="2A2F38"/>
                      </a:solidFill>
                      <a:prstDash val="solid"/>
                      <a:round/>
                      <a:headEnd type="none" w="med" len="med"/>
                      <a:tailEnd type="none" w="med" len="med"/>
                    </a:lnL>
                    <a:lnR w="6350" cap="flat" cmpd="sng" algn="ctr">
                      <a:solidFill>
                        <a:srgbClr val="2A2F38"/>
                      </a:solidFill>
                      <a:prstDash val="solid"/>
                      <a:round/>
                      <a:headEnd type="none" w="med" len="med"/>
                      <a:tailEnd type="none" w="med" len="med"/>
                    </a:lnR>
                    <a:lnT w="6350" cap="flat" cmpd="sng" algn="ctr">
                      <a:solidFill>
                        <a:srgbClr val="2A2F38"/>
                      </a:solidFill>
                      <a:prstDash val="solid"/>
                      <a:round/>
                      <a:headEnd type="none" w="med" len="med"/>
                      <a:tailEnd type="none" w="med" len="med"/>
                    </a:lnT>
                    <a:lnB w="6350" cap="flat" cmpd="sng" algn="ctr">
                      <a:solidFill>
                        <a:srgbClr val="2A2F38"/>
                      </a:solidFill>
                      <a:prstDash val="solid"/>
                      <a:round/>
                      <a:headEnd type="none" w="med" len="med"/>
                      <a:tailEnd type="none" w="med" len="med"/>
                    </a:lnB>
                    <a:solidFill>
                      <a:srgbClr val="161B22"/>
                    </a:solidFill>
                  </a:tcPr>
                </a:tc>
                <a:tc>
                  <a:txBody>
                    <a:bodyPr/>
                    <a:lstStyle/>
                    <a:p>
                      <a:pPr algn="l" indent="0" marL="0">
                        <a:buNone/>
                      </a:pPr>
                      <a:r>
                        <a:rPr lang="en-US" sz="1200" b="1" dirty="0">
                          <a:solidFill>
                            <a:srgbClr val="22C55E"/>
                          </a:solidFill>
                          <a:latin typeface="Calibri" pitchFamily="34" charset="0"/>
                          <a:ea typeface="Calibri" pitchFamily="34" charset="-122"/>
                          <a:cs typeface="Calibri" pitchFamily="34" charset="-120"/>
                        </a:rPr>
                        <a:t>Population 2022</a:t>
                      </a:r>
                      <a:endParaRPr lang="en-US" sz="1200" dirty="0">
                        <a:latin typeface="Calibri" charset="0"/>
                        <a:ea typeface="Calibri" charset="0"/>
                        <a:cs typeface="Calibri" charset="0"/>
                      </a:endParaRPr>
                    </a:p>
                  </a:txBody>
                  <a:tcPr marL="91440" marR="91440" marT="45720" marB="45720" anchor="ctr">
                    <a:lnL w="6350" cap="flat" cmpd="sng" algn="ctr">
                      <a:solidFill>
                        <a:srgbClr val="2A2F38"/>
                      </a:solidFill>
                      <a:prstDash val="solid"/>
                      <a:round/>
                      <a:headEnd type="none" w="med" len="med"/>
                      <a:tailEnd type="none" w="med" len="med"/>
                    </a:lnL>
                    <a:lnR w="6350" cap="flat" cmpd="sng" algn="ctr">
                      <a:solidFill>
                        <a:srgbClr val="2A2F38"/>
                      </a:solidFill>
                      <a:prstDash val="solid"/>
                      <a:round/>
                      <a:headEnd type="none" w="med" len="med"/>
                      <a:tailEnd type="none" w="med" len="med"/>
                    </a:lnR>
                    <a:lnT w="6350" cap="flat" cmpd="sng" algn="ctr">
                      <a:solidFill>
                        <a:srgbClr val="2A2F38"/>
                      </a:solidFill>
                      <a:prstDash val="solid"/>
                      <a:round/>
                      <a:headEnd type="none" w="med" len="med"/>
                      <a:tailEnd type="none" w="med" len="med"/>
                    </a:lnT>
                    <a:lnB w="6350" cap="flat" cmpd="sng" algn="ctr">
                      <a:solidFill>
                        <a:srgbClr val="2A2F38"/>
                      </a:solidFill>
                      <a:prstDash val="solid"/>
                      <a:round/>
                      <a:headEnd type="none" w="med" len="med"/>
                      <a:tailEnd type="none" w="med" len="med"/>
                    </a:lnB>
                    <a:solidFill>
                      <a:srgbClr val="161B22"/>
                    </a:solidFill>
                  </a:tcPr>
                </a:tc>
                <a:tc>
                  <a:txBody>
                    <a:bodyPr/>
                    <a:lstStyle/>
                    <a:p>
                      <a:pPr algn="l" indent="0" marL="0">
                        <a:buNone/>
                      </a:pPr>
                      <a:r>
                        <a:rPr lang="en-US" sz="1200" b="1" dirty="0">
                          <a:solidFill>
                            <a:srgbClr val="22C55E"/>
                          </a:solidFill>
                          <a:latin typeface="Calibri" pitchFamily="34" charset="0"/>
                          <a:ea typeface="Calibri" pitchFamily="34" charset="-122"/>
                          <a:cs typeface="Calibri" pitchFamily="34" charset="-120"/>
                        </a:rPr>
                        <a:t>Agences</a:t>
                      </a:r>
                      <a:endParaRPr lang="en-US" sz="1200" dirty="0">
                        <a:latin typeface="Calibri" charset="0"/>
                        <a:ea typeface="Calibri" charset="0"/>
                        <a:cs typeface="Calibri" charset="0"/>
                      </a:endParaRPr>
                    </a:p>
                  </a:txBody>
                  <a:tcPr marL="91440" marR="91440" marT="45720" marB="45720" anchor="ctr">
                    <a:lnL w="6350" cap="flat" cmpd="sng" algn="ctr">
                      <a:solidFill>
                        <a:srgbClr val="2A2F38"/>
                      </a:solidFill>
                      <a:prstDash val="solid"/>
                      <a:round/>
                      <a:headEnd type="none" w="med" len="med"/>
                      <a:tailEnd type="none" w="med" len="med"/>
                    </a:lnL>
                    <a:lnR w="6350" cap="flat" cmpd="sng" algn="ctr">
                      <a:solidFill>
                        <a:srgbClr val="2A2F38"/>
                      </a:solidFill>
                      <a:prstDash val="solid"/>
                      <a:round/>
                      <a:headEnd type="none" w="med" len="med"/>
                      <a:tailEnd type="none" w="med" len="med"/>
                    </a:lnR>
                    <a:lnT w="6350" cap="flat" cmpd="sng" algn="ctr">
                      <a:solidFill>
                        <a:srgbClr val="2A2F38"/>
                      </a:solidFill>
                      <a:prstDash val="solid"/>
                      <a:round/>
                      <a:headEnd type="none" w="med" len="med"/>
                      <a:tailEnd type="none" w="med" len="med"/>
                    </a:lnT>
                    <a:lnB w="6350" cap="flat" cmpd="sng" algn="ctr">
                      <a:solidFill>
                        <a:srgbClr val="2A2F38"/>
                      </a:solidFill>
                      <a:prstDash val="solid"/>
                      <a:round/>
                      <a:headEnd type="none" w="med" len="med"/>
                      <a:tailEnd type="none" w="med" len="med"/>
                    </a:lnB>
                    <a:solidFill>
                      <a:srgbClr val="161B22"/>
                    </a:solidFill>
                  </a:tcPr>
                </a:tc>
              </a:tr>
              <a:tr h="502920">
                <a:tc>
                  <a:txBody>
                    <a:bodyPr/>
                    <a:lstStyle/>
                    <a:p>
                      <a:pPr algn="l" indent="0" marL="0">
                        <a:buNone/>
                      </a:pPr>
                      <a:r>
                        <a:rPr lang="en-US" sz="1200" dirty="0">
                          <a:solidFill>
                            <a:srgbClr val="E6E6E6"/>
                          </a:solidFill>
                          <a:latin typeface="Calibri" pitchFamily="34" charset="0"/>
                          <a:ea typeface="Calibri" pitchFamily="34" charset="-122"/>
                          <a:cs typeface="Calibri" pitchFamily="34" charset="-120"/>
                        </a:rPr>
                        <a:t>Lacs</a:t>
                      </a:r>
                      <a:endParaRPr lang="en-US" sz="1200" dirty="0">
                        <a:latin typeface="Calibri" charset="0"/>
                        <a:ea typeface="Calibri" charset="0"/>
                        <a:cs typeface="Calibri" charset="0"/>
                      </a:endParaRPr>
                    </a:p>
                  </a:txBody>
                  <a:tcPr marL="91440" marR="91440" marT="45720" marB="45720" anchor="ctr">
                    <a:lnL w="6350" cap="flat" cmpd="sng" algn="ctr">
                      <a:solidFill>
                        <a:srgbClr val="2A2F38"/>
                      </a:solidFill>
                      <a:prstDash val="solid"/>
                      <a:round/>
                      <a:headEnd type="none" w="med" len="med"/>
                      <a:tailEnd type="none" w="med" len="med"/>
                    </a:lnL>
                    <a:lnR w="6350" cap="flat" cmpd="sng" algn="ctr">
                      <a:solidFill>
                        <a:srgbClr val="2A2F38"/>
                      </a:solidFill>
                      <a:prstDash val="solid"/>
                      <a:round/>
                      <a:headEnd type="none" w="med" len="med"/>
                      <a:tailEnd type="none" w="med" len="med"/>
                    </a:lnR>
                    <a:lnT w="6350" cap="flat" cmpd="sng" algn="ctr">
                      <a:solidFill>
                        <a:srgbClr val="2A2F38"/>
                      </a:solidFill>
                      <a:prstDash val="solid"/>
                      <a:round/>
                      <a:headEnd type="none" w="med" len="med"/>
                      <a:tailEnd type="none" w="med" len="med"/>
                    </a:lnT>
                    <a:lnB w="6350" cap="flat" cmpd="sng" algn="ctr">
                      <a:solidFill>
                        <a:srgbClr val="2A2F38"/>
                      </a:solidFill>
                      <a:prstDash val="solid"/>
                      <a:round/>
                      <a:headEnd type="none" w="med" len="med"/>
                      <a:tailEnd type="none" w="med" len="med"/>
                    </a:lnB>
                    <a:solidFill>
                      <a:srgbClr val="161B22"/>
                    </a:solidFill>
                  </a:tcPr>
                </a:tc>
                <a:tc>
                  <a:txBody>
                    <a:bodyPr/>
                    <a:lstStyle/>
                    <a:p>
                      <a:pPr algn="l" indent="0" marL="0">
                        <a:buNone/>
                      </a:pPr>
                      <a:r>
                        <a:rPr lang="en-US" sz="1200" dirty="0">
                          <a:solidFill>
                            <a:srgbClr val="E6E6E6"/>
                          </a:solidFill>
                          <a:latin typeface="Calibri" pitchFamily="34" charset="0"/>
                          <a:ea typeface="Calibri" pitchFamily="34" charset="-122"/>
                          <a:cs typeface="Calibri" pitchFamily="34" charset="-120"/>
                        </a:rPr>
                        <a:t>Maritime</a:t>
                      </a:r>
                      <a:endParaRPr lang="en-US" sz="1200" dirty="0">
                        <a:latin typeface="Calibri" charset="0"/>
                        <a:ea typeface="Calibri" charset="0"/>
                        <a:cs typeface="Calibri" charset="0"/>
                      </a:endParaRPr>
                    </a:p>
                  </a:txBody>
                  <a:tcPr marL="91440" marR="91440" marT="45720" marB="45720" anchor="ctr">
                    <a:lnL w="6350" cap="flat" cmpd="sng" algn="ctr">
                      <a:solidFill>
                        <a:srgbClr val="2A2F38"/>
                      </a:solidFill>
                      <a:prstDash val="solid"/>
                      <a:round/>
                      <a:headEnd type="none" w="med" len="med"/>
                      <a:tailEnd type="none" w="med" len="med"/>
                    </a:lnL>
                    <a:lnR w="6350" cap="flat" cmpd="sng" algn="ctr">
                      <a:solidFill>
                        <a:srgbClr val="2A2F38"/>
                      </a:solidFill>
                      <a:prstDash val="solid"/>
                      <a:round/>
                      <a:headEnd type="none" w="med" len="med"/>
                      <a:tailEnd type="none" w="med" len="med"/>
                    </a:lnR>
                    <a:lnT w="6350" cap="flat" cmpd="sng" algn="ctr">
                      <a:solidFill>
                        <a:srgbClr val="2A2F38"/>
                      </a:solidFill>
                      <a:prstDash val="solid"/>
                      <a:round/>
                      <a:headEnd type="none" w="med" len="med"/>
                      <a:tailEnd type="none" w="med" len="med"/>
                    </a:lnT>
                    <a:lnB w="6350" cap="flat" cmpd="sng" algn="ctr">
                      <a:solidFill>
                        <a:srgbClr val="2A2F38"/>
                      </a:solidFill>
                      <a:prstDash val="solid"/>
                      <a:round/>
                      <a:headEnd type="none" w="med" len="med"/>
                      <a:tailEnd type="none" w="med" len="med"/>
                    </a:lnB>
                    <a:solidFill>
                      <a:srgbClr val="161B22"/>
                    </a:solidFill>
                  </a:tcPr>
                </a:tc>
                <a:tc>
                  <a:txBody>
                    <a:bodyPr/>
                    <a:lstStyle/>
                    <a:p>
                      <a:pPr algn="l" indent="0" marL="0">
                        <a:buNone/>
                      </a:pPr>
                      <a:r>
                        <a:rPr lang="en-US" sz="1200" dirty="0">
                          <a:solidFill>
                            <a:srgbClr val="E6E6E6"/>
                          </a:solidFill>
                          <a:latin typeface="Calibri" pitchFamily="34" charset="0"/>
                          <a:ea typeface="Calibri" pitchFamily="34" charset="-122"/>
                          <a:cs typeface="Calibri" pitchFamily="34" charset="-120"/>
                        </a:rPr>
                        <a:t>241 247</a:t>
                      </a:r>
                      <a:endParaRPr lang="en-US" sz="1200" dirty="0">
                        <a:latin typeface="Calibri" charset="0"/>
                        <a:ea typeface="Calibri" charset="0"/>
                        <a:cs typeface="Calibri" charset="0"/>
                      </a:endParaRPr>
                    </a:p>
                  </a:txBody>
                  <a:tcPr marL="91440" marR="91440" marT="45720" marB="45720" anchor="ctr">
                    <a:lnL w="6350" cap="flat" cmpd="sng" algn="ctr">
                      <a:solidFill>
                        <a:srgbClr val="2A2F38"/>
                      </a:solidFill>
                      <a:prstDash val="solid"/>
                      <a:round/>
                      <a:headEnd type="none" w="med" len="med"/>
                      <a:tailEnd type="none" w="med" len="med"/>
                    </a:lnL>
                    <a:lnR w="6350" cap="flat" cmpd="sng" algn="ctr">
                      <a:solidFill>
                        <a:srgbClr val="2A2F38"/>
                      </a:solidFill>
                      <a:prstDash val="solid"/>
                      <a:round/>
                      <a:headEnd type="none" w="med" len="med"/>
                      <a:tailEnd type="none" w="med" len="med"/>
                    </a:lnR>
                    <a:lnT w="6350" cap="flat" cmpd="sng" algn="ctr">
                      <a:solidFill>
                        <a:srgbClr val="2A2F38"/>
                      </a:solidFill>
                      <a:prstDash val="solid"/>
                      <a:round/>
                      <a:headEnd type="none" w="med" len="med"/>
                      <a:tailEnd type="none" w="med" len="med"/>
                    </a:lnT>
                    <a:lnB w="6350" cap="flat" cmpd="sng" algn="ctr">
                      <a:solidFill>
                        <a:srgbClr val="2A2F38"/>
                      </a:solidFill>
                      <a:prstDash val="solid"/>
                      <a:round/>
                      <a:headEnd type="none" w="med" len="med"/>
                      <a:tailEnd type="none" w="med" len="med"/>
                    </a:lnB>
                    <a:solidFill>
                      <a:srgbClr val="161B22"/>
                    </a:solidFill>
                  </a:tcPr>
                </a:tc>
                <a:tc>
                  <a:txBody>
                    <a:bodyPr/>
                    <a:lstStyle/>
                    <a:p>
                      <a:pPr algn="l" indent="0" marL="0">
                        <a:buNone/>
                      </a:pPr>
                      <a:r>
                        <a:rPr lang="en-US" sz="1200" dirty="0">
                          <a:solidFill>
                            <a:srgbClr val="E6E6E6"/>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marL="91440" marR="91440" marT="45720" marB="45720" anchor="ctr">
                    <a:lnL w="6350" cap="flat" cmpd="sng" algn="ctr">
                      <a:solidFill>
                        <a:srgbClr val="2A2F38"/>
                      </a:solidFill>
                      <a:prstDash val="solid"/>
                      <a:round/>
                      <a:headEnd type="none" w="med" len="med"/>
                      <a:tailEnd type="none" w="med" len="med"/>
                    </a:lnL>
                    <a:lnR w="6350" cap="flat" cmpd="sng" algn="ctr">
                      <a:solidFill>
                        <a:srgbClr val="2A2F38"/>
                      </a:solidFill>
                      <a:prstDash val="solid"/>
                      <a:round/>
                      <a:headEnd type="none" w="med" len="med"/>
                      <a:tailEnd type="none" w="med" len="med"/>
                    </a:lnR>
                    <a:lnT w="6350" cap="flat" cmpd="sng" algn="ctr">
                      <a:solidFill>
                        <a:srgbClr val="2A2F38"/>
                      </a:solidFill>
                      <a:prstDash val="solid"/>
                      <a:round/>
                      <a:headEnd type="none" w="med" len="med"/>
                      <a:tailEnd type="none" w="med" len="med"/>
                    </a:lnT>
                    <a:lnB w="6350" cap="flat" cmpd="sng" algn="ctr">
                      <a:solidFill>
                        <a:srgbClr val="2A2F38"/>
                      </a:solidFill>
                      <a:prstDash val="solid"/>
                      <a:round/>
                      <a:headEnd type="none" w="med" len="med"/>
                      <a:tailEnd type="none" w="med" len="med"/>
                    </a:lnB>
                    <a:solidFill>
                      <a:srgbClr val="161B22"/>
                    </a:solidFill>
                  </a:tcPr>
                </a:tc>
              </a:tr>
              <a:tr h="502920">
                <a:tc>
                  <a:txBody>
                    <a:bodyPr/>
                    <a:lstStyle/>
                    <a:p>
                      <a:pPr algn="l" indent="0" marL="0">
                        <a:buNone/>
                      </a:pPr>
                      <a:r>
                        <a:rPr lang="en-US" sz="1200" dirty="0">
                          <a:solidFill>
                            <a:srgbClr val="E6E6E6"/>
                          </a:solidFill>
                          <a:latin typeface="Calibri" pitchFamily="34" charset="0"/>
                          <a:ea typeface="Calibri" pitchFamily="34" charset="-122"/>
                          <a:cs typeface="Calibri" pitchFamily="34" charset="-120"/>
                        </a:rPr>
                        <a:t>Vo</a:t>
                      </a:r>
                      <a:endParaRPr lang="en-US" sz="1200" dirty="0">
                        <a:latin typeface="Calibri" charset="0"/>
                        <a:ea typeface="Calibri" charset="0"/>
                        <a:cs typeface="Calibri" charset="0"/>
                      </a:endParaRPr>
                    </a:p>
                  </a:txBody>
                  <a:tcPr marL="91440" marR="91440" marT="45720" marB="45720" anchor="ctr">
                    <a:lnL w="6350" cap="flat" cmpd="sng" algn="ctr">
                      <a:solidFill>
                        <a:srgbClr val="2A2F38"/>
                      </a:solidFill>
                      <a:prstDash val="solid"/>
                      <a:round/>
                      <a:headEnd type="none" w="med" len="med"/>
                      <a:tailEnd type="none" w="med" len="med"/>
                    </a:lnL>
                    <a:lnR w="6350" cap="flat" cmpd="sng" algn="ctr">
                      <a:solidFill>
                        <a:srgbClr val="2A2F38"/>
                      </a:solidFill>
                      <a:prstDash val="solid"/>
                      <a:round/>
                      <a:headEnd type="none" w="med" len="med"/>
                      <a:tailEnd type="none" w="med" len="med"/>
                    </a:lnR>
                    <a:lnT w="6350" cap="flat" cmpd="sng" algn="ctr">
                      <a:solidFill>
                        <a:srgbClr val="2A2F38"/>
                      </a:solidFill>
                      <a:prstDash val="solid"/>
                      <a:round/>
                      <a:headEnd type="none" w="med" len="med"/>
                      <a:tailEnd type="none" w="med" len="med"/>
                    </a:lnT>
                    <a:lnB w="6350" cap="flat" cmpd="sng" algn="ctr">
                      <a:solidFill>
                        <a:srgbClr val="2A2F38"/>
                      </a:solidFill>
                      <a:prstDash val="solid"/>
                      <a:round/>
                      <a:headEnd type="none" w="med" len="med"/>
                      <a:tailEnd type="none" w="med" len="med"/>
                    </a:lnB>
                    <a:solidFill>
                      <a:srgbClr val="0E1117"/>
                    </a:solidFill>
                  </a:tcPr>
                </a:tc>
                <a:tc>
                  <a:txBody>
                    <a:bodyPr/>
                    <a:lstStyle/>
                    <a:p>
                      <a:pPr algn="l" indent="0" marL="0">
                        <a:buNone/>
                      </a:pPr>
                      <a:r>
                        <a:rPr lang="en-US" sz="1200" dirty="0">
                          <a:solidFill>
                            <a:srgbClr val="E6E6E6"/>
                          </a:solidFill>
                          <a:latin typeface="Calibri" pitchFamily="34" charset="0"/>
                          <a:ea typeface="Calibri" pitchFamily="34" charset="-122"/>
                          <a:cs typeface="Calibri" pitchFamily="34" charset="-120"/>
                        </a:rPr>
                        <a:t>Maritime</a:t>
                      </a:r>
                      <a:endParaRPr lang="en-US" sz="1200" dirty="0">
                        <a:latin typeface="Calibri" charset="0"/>
                        <a:ea typeface="Calibri" charset="0"/>
                        <a:cs typeface="Calibri" charset="0"/>
                      </a:endParaRPr>
                    </a:p>
                  </a:txBody>
                  <a:tcPr marL="91440" marR="91440" marT="45720" marB="45720" anchor="ctr">
                    <a:lnL w="6350" cap="flat" cmpd="sng" algn="ctr">
                      <a:solidFill>
                        <a:srgbClr val="2A2F38"/>
                      </a:solidFill>
                      <a:prstDash val="solid"/>
                      <a:round/>
                      <a:headEnd type="none" w="med" len="med"/>
                      <a:tailEnd type="none" w="med" len="med"/>
                    </a:lnL>
                    <a:lnR w="6350" cap="flat" cmpd="sng" algn="ctr">
                      <a:solidFill>
                        <a:srgbClr val="2A2F38"/>
                      </a:solidFill>
                      <a:prstDash val="solid"/>
                      <a:round/>
                      <a:headEnd type="none" w="med" len="med"/>
                      <a:tailEnd type="none" w="med" len="med"/>
                    </a:lnR>
                    <a:lnT w="6350" cap="flat" cmpd="sng" algn="ctr">
                      <a:solidFill>
                        <a:srgbClr val="2A2F38"/>
                      </a:solidFill>
                      <a:prstDash val="solid"/>
                      <a:round/>
                      <a:headEnd type="none" w="med" len="med"/>
                      <a:tailEnd type="none" w="med" len="med"/>
                    </a:lnT>
                    <a:lnB w="6350" cap="flat" cmpd="sng" algn="ctr">
                      <a:solidFill>
                        <a:srgbClr val="2A2F38"/>
                      </a:solidFill>
                      <a:prstDash val="solid"/>
                      <a:round/>
                      <a:headEnd type="none" w="med" len="med"/>
                      <a:tailEnd type="none" w="med" len="med"/>
                    </a:lnB>
                    <a:solidFill>
                      <a:srgbClr val="0E1117"/>
                    </a:solidFill>
                  </a:tcPr>
                </a:tc>
                <a:tc>
                  <a:txBody>
                    <a:bodyPr/>
                    <a:lstStyle/>
                    <a:p>
                      <a:pPr algn="l" indent="0" marL="0">
                        <a:buNone/>
                      </a:pPr>
                      <a:r>
                        <a:rPr lang="en-US" sz="1200" dirty="0">
                          <a:solidFill>
                            <a:srgbClr val="E6E6E6"/>
                          </a:solidFill>
                          <a:latin typeface="Calibri" pitchFamily="34" charset="0"/>
                          <a:ea typeface="Calibri" pitchFamily="34" charset="-122"/>
                          <a:cs typeface="Calibri" pitchFamily="34" charset="-120"/>
                        </a:rPr>
                        <a:t>224 411</a:t>
                      </a:r>
                      <a:endParaRPr lang="en-US" sz="1200" dirty="0">
                        <a:latin typeface="Calibri" charset="0"/>
                        <a:ea typeface="Calibri" charset="0"/>
                        <a:cs typeface="Calibri" charset="0"/>
                      </a:endParaRPr>
                    </a:p>
                  </a:txBody>
                  <a:tcPr marL="91440" marR="91440" marT="45720" marB="45720" anchor="ctr">
                    <a:lnL w="6350" cap="flat" cmpd="sng" algn="ctr">
                      <a:solidFill>
                        <a:srgbClr val="2A2F38"/>
                      </a:solidFill>
                      <a:prstDash val="solid"/>
                      <a:round/>
                      <a:headEnd type="none" w="med" len="med"/>
                      <a:tailEnd type="none" w="med" len="med"/>
                    </a:lnL>
                    <a:lnR w="6350" cap="flat" cmpd="sng" algn="ctr">
                      <a:solidFill>
                        <a:srgbClr val="2A2F38"/>
                      </a:solidFill>
                      <a:prstDash val="solid"/>
                      <a:round/>
                      <a:headEnd type="none" w="med" len="med"/>
                      <a:tailEnd type="none" w="med" len="med"/>
                    </a:lnR>
                    <a:lnT w="6350" cap="flat" cmpd="sng" algn="ctr">
                      <a:solidFill>
                        <a:srgbClr val="2A2F38"/>
                      </a:solidFill>
                      <a:prstDash val="solid"/>
                      <a:round/>
                      <a:headEnd type="none" w="med" len="med"/>
                      <a:tailEnd type="none" w="med" len="med"/>
                    </a:lnT>
                    <a:lnB w="6350" cap="flat" cmpd="sng" algn="ctr">
                      <a:solidFill>
                        <a:srgbClr val="2A2F38"/>
                      </a:solidFill>
                      <a:prstDash val="solid"/>
                      <a:round/>
                      <a:headEnd type="none" w="med" len="med"/>
                      <a:tailEnd type="none" w="med" len="med"/>
                    </a:lnB>
                    <a:solidFill>
                      <a:srgbClr val="0E1117"/>
                    </a:solidFill>
                  </a:tcPr>
                </a:tc>
                <a:tc>
                  <a:txBody>
                    <a:bodyPr/>
                    <a:lstStyle/>
                    <a:p>
                      <a:pPr algn="l" indent="0" marL="0">
                        <a:buNone/>
                      </a:pPr>
                      <a:r>
                        <a:rPr lang="en-US" sz="1200" dirty="0">
                          <a:solidFill>
                            <a:srgbClr val="E6E6E6"/>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marL="91440" marR="91440" marT="45720" marB="45720" anchor="ctr">
                    <a:lnL w="6350" cap="flat" cmpd="sng" algn="ctr">
                      <a:solidFill>
                        <a:srgbClr val="2A2F38"/>
                      </a:solidFill>
                      <a:prstDash val="solid"/>
                      <a:round/>
                      <a:headEnd type="none" w="med" len="med"/>
                      <a:tailEnd type="none" w="med" len="med"/>
                    </a:lnL>
                    <a:lnR w="6350" cap="flat" cmpd="sng" algn="ctr">
                      <a:solidFill>
                        <a:srgbClr val="2A2F38"/>
                      </a:solidFill>
                      <a:prstDash val="solid"/>
                      <a:round/>
                      <a:headEnd type="none" w="med" len="med"/>
                      <a:tailEnd type="none" w="med" len="med"/>
                    </a:lnR>
                    <a:lnT w="6350" cap="flat" cmpd="sng" algn="ctr">
                      <a:solidFill>
                        <a:srgbClr val="2A2F38"/>
                      </a:solidFill>
                      <a:prstDash val="solid"/>
                      <a:round/>
                      <a:headEnd type="none" w="med" len="med"/>
                      <a:tailEnd type="none" w="med" len="med"/>
                    </a:lnT>
                    <a:lnB w="6350" cap="flat" cmpd="sng" algn="ctr">
                      <a:solidFill>
                        <a:srgbClr val="2A2F38"/>
                      </a:solidFill>
                      <a:prstDash val="solid"/>
                      <a:round/>
                      <a:headEnd type="none" w="med" len="med"/>
                      <a:tailEnd type="none" w="med" len="med"/>
                    </a:lnB>
                    <a:solidFill>
                      <a:srgbClr val="0E1117"/>
                    </a:solidFill>
                  </a:tcPr>
                </a:tc>
              </a:tr>
              <a:tr h="502920">
                <a:tc>
                  <a:txBody>
                    <a:bodyPr/>
                    <a:lstStyle/>
                    <a:p>
                      <a:pPr algn="l" indent="0" marL="0">
                        <a:buNone/>
                      </a:pPr>
                      <a:r>
                        <a:rPr lang="en-US" sz="1200" dirty="0">
                          <a:solidFill>
                            <a:srgbClr val="E6E6E6"/>
                          </a:solidFill>
                          <a:latin typeface="Calibri" pitchFamily="34" charset="0"/>
                          <a:ea typeface="Calibri" pitchFamily="34" charset="-122"/>
                          <a:cs typeface="Calibri" pitchFamily="34" charset="-120"/>
                        </a:rPr>
                        <a:t>Est-Mono</a:t>
                      </a:r>
                      <a:endParaRPr lang="en-US" sz="1200" dirty="0">
                        <a:latin typeface="Calibri" charset="0"/>
                        <a:ea typeface="Calibri" charset="0"/>
                        <a:cs typeface="Calibri" charset="0"/>
                      </a:endParaRPr>
                    </a:p>
                  </a:txBody>
                  <a:tcPr marL="91440" marR="91440" marT="45720" marB="45720" anchor="ctr">
                    <a:lnL w="6350" cap="flat" cmpd="sng" algn="ctr">
                      <a:solidFill>
                        <a:srgbClr val="2A2F38"/>
                      </a:solidFill>
                      <a:prstDash val="solid"/>
                      <a:round/>
                      <a:headEnd type="none" w="med" len="med"/>
                      <a:tailEnd type="none" w="med" len="med"/>
                    </a:lnL>
                    <a:lnR w="6350" cap="flat" cmpd="sng" algn="ctr">
                      <a:solidFill>
                        <a:srgbClr val="2A2F38"/>
                      </a:solidFill>
                      <a:prstDash val="solid"/>
                      <a:round/>
                      <a:headEnd type="none" w="med" len="med"/>
                      <a:tailEnd type="none" w="med" len="med"/>
                    </a:lnR>
                    <a:lnT w="6350" cap="flat" cmpd="sng" algn="ctr">
                      <a:solidFill>
                        <a:srgbClr val="2A2F38"/>
                      </a:solidFill>
                      <a:prstDash val="solid"/>
                      <a:round/>
                      <a:headEnd type="none" w="med" len="med"/>
                      <a:tailEnd type="none" w="med" len="med"/>
                    </a:lnT>
                    <a:lnB w="6350" cap="flat" cmpd="sng" algn="ctr">
                      <a:solidFill>
                        <a:srgbClr val="2A2F38"/>
                      </a:solidFill>
                      <a:prstDash val="solid"/>
                      <a:round/>
                      <a:headEnd type="none" w="med" len="med"/>
                      <a:tailEnd type="none" w="med" len="med"/>
                    </a:lnB>
                    <a:solidFill>
                      <a:srgbClr val="161B22"/>
                    </a:solidFill>
                  </a:tcPr>
                </a:tc>
                <a:tc>
                  <a:txBody>
                    <a:bodyPr/>
                    <a:lstStyle/>
                    <a:p>
                      <a:pPr algn="l" indent="0" marL="0">
                        <a:buNone/>
                      </a:pPr>
                      <a:r>
                        <a:rPr lang="en-US" sz="1200" dirty="0">
                          <a:solidFill>
                            <a:srgbClr val="E6E6E6"/>
                          </a:solidFill>
                          <a:latin typeface="Calibri" pitchFamily="34" charset="0"/>
                          <a:ea typeface="Calibri" pitchFamily="34" charset="-122"/>
                          <a:cs typeface="Calibri" pitchFamily="34" charset="-120"/>
                        </a:rPr>
                        <a:t>Plateaux</a:t>
                      </a:r>
                      <a:endParaRPr lang="en-US" sz="1200" dirty="0">
                        <a:latin typeface="Calibri" charset="0"/>
                        <a:ea typeface="Calibri" charset="0"/>
                        <a:cs typeface="Calibri" charset="0"/>
                      </a:endParaRPr>
                    </a:p>
                  </a:txBody>
                  <a:tcPr marL="91440" marR="91440" marT="45720" marB="45720" anchor="ctr">
                    <a:lnL w="6350" cap="flat" cmpd="sng" algn="ctr">
                      <a:solidFill>
                        <a:srgbClr val="2A2F38"/>
                      </a:solidFill>
                      <a:prstDash val="solid"/>
                      <a:round/>
                      <a:headEnd type="none" w="med" len="med"/>
                      <a:tailEnd type="none" w="med" len="med"/>
                    </a:lnL>
                    <a:lnR w="6350" cap="flat" cmpd="sng" algn="ctr">
                      <a:solidFill>
                        <a:srgbClr val="2A2F38"/>
                      </a:solidFill>
                      <a:prstDash val="solid"/>
                      <a:round/>
                      <a:headEnd type="none" w="med" len="med"/>
                      <a:tailEnd type="none" w="med" len="med"/>
                    </a:lnR>
                    <a:lnT w="6350" cap="flat" cmpd="sng" algn="ctr">
                      <a:solidFill>
                        <a:srgbClr val="2A2F38"/>
                      </a:solidFill>
                      <a:prstDash val="solid"/>
                      <a:round/>
                      <a:headEnd type="none" w="med" len="med"/>
                      <a:tailEnd type="none" w="med" len="med"/>
                    </a:lnT>
                    <a:lnB w="6350" cap="flat" cmpd="sng" algn="ctr">
                      <a:solidFill>
                        <a:srgbClr val="2A2F38"/>
                      </a:solidFill>
                      <a:prstDash val="solid"/>
                      <a:round/>
                      <a:headEnd type="none" w="med" len="med"/>
                      <a:tailEnd type="none" w="med" len="med"/>
                    </a:lnB>
                    <a:solidFill>
                      <a:srgbClr val="161B22"/>
                    </a:solidFill>
                  </a:tcPr>
                </a:tc>
                <a:tc>
                  <a:txBody>
                    <a:bodyPr/>
                    <a:lstStyle/>
                    <a:p>
                      <a:pPr algn="l" indent="0" marL="0">
                        <a:buNone/>
                      </a:pPr>
                      <a:r>
                        <a:rPr lang="en-US" sz="1200" dirty="0">
                          <a:solidFill>
                            <a:srgbClr val="E6E6E6"/>
                          </a:solidFill>
                          <a:latin typeface="Calibri" pitchFamily="34" charset="0"/>
                          <a:ea typeface="Calibri" pitchFamily="34" charset="-122"/>
                          <a:cs typeface="Calibri" pitchFamily="34" charset="-120"/>
                        </a:rPr>
                        <a:t>164 460</a:t>
                      </a:r>
                      <a:endParaRPr lang="en-US" sz="1200" dirty="0">
                        <a:latin typeface="Calibri" charset="0"/>
                        <a:ea typeface="Calibri" charset="0"/>
                        <a:cs typeface="Calibri" charset="0"/>
                      </a:endParaRPr>
                    </a:p>
                  </a:txBody>
                  <a:tcPr marL="91440" marR="91440" marT="45720" marB="45720" anchor="ctr">
                    <a:lnL w="6350" cap="flat" cmpd="sng" algn="ctr">
                      <a:solidFill>
                        <a:srgbClr val="2A2F38"/>
                      </a:solidFill>
                      <a:prstDash val="solid"/>
                      <a:round/>
                      <a:headEnd type="none" w="med" len="med"/>
                      <a:tailEnd type="none" w="med" len="med"/>
                    </a:lnL>
                    <a:lnR w="6350" cap="flat" cmpd="sng" algn="ctr">
                      <a:solidFill>
                        <a:srgbClr val="2A2F38"/>
                      </a:solidFill>
                      <a:prstDash val="solid"/>
                      <a:round/>
                      <a:headEnd type="none" w="med" len="med"/>
                      <a:tailEnd type="none" w="med" len="med"/>
                    </a:lnR>
                    <a:lnT w="6350" cap="flat" cmpd="sng" algn="ctr">
                      <a:solidFill>
                        <a:srgbClr val="2A2F38"/>
                      </a:solidFill>
                      <a:prstDash val="solid"/>
                      <a:round/>
                      <a:headEnd type="none" w="med" len="med"/>
                      <a:tailEnd type="none" w="med" len="med"/>
                    </a:lnT>
                    <a:lnB w="6350" cap="flat" cmpd="sng" algn="ctr">
                      <a:solidFill>
                        <a:srgbClr val="2A2F38"/>
                      </a:solidFill>
                      <a:prstDash val="solid"/>
                      <a:round/>
                      <a:headEnd type="none" w="med" len="med"/>
                      <a:tailEnd type="none" w="med" len="med"/>
                    </a:lnB>
                    <a:solidFill>
                      <a:srgbClr val="161B22"/>
                    </a:solidFill>
                  </a:tcPr>
                </a:tc>
                <a:tc>
                  <a:txBody>
                    <a:bodyPr/>
                    <a:lstStyle/>
                    <a:p>
                      <a:pPr algn="l" indent="0" marL="0">
                        <a:buNone/>
                      </a:pPr>
                      <a:r>
                        <a:rPr lang="en-US" sz="1200" dirty="0">
                          <a:solidFill>
                            <a:srgbClr val="E6E6E6"/>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marL="91440" marR="91440" marT="45720" marB="45720" anchor="ctr">
                    <a:lnL w="6350" cap="flat" cmpd="sng" algn="ctr">
                      <a:solidFill>
                        <a:srgbClr val="2A2F38"/>
                      </a:solidFill>
                      <a:prstDash val="solid"/>
                      <a:round/>
                      <a:headEnd type="none" w="med" len="med"/>
                      <a:tailEnd type="none" w="med" len="med"/>
                    </a:lnL>
                    <a:lnR w="6350" cap="flat" cmpd="sng" algn="ctr">
                      <a:solidFill>
                        <a:srgbClr val="2A2F38"/>
                      </a:solidFill>
                      <a:prstDash val="solid"/>
                      <a:round/>
                      <a:headEnd type="none" w="med" len="med"/>
                      <a:tailEnd type="none" w="med" len="med"/>
                    </a:lnR>
                    <a:lnT w="6350" cap="flat" cmpd="sng" algn="ctr">
                      <a:solidFill>
                        <a:srgbClr val="2A2F38"/>
                      </a:solidFill>
                      <a:prstDash val="solid"/>
                      <a:round/>
                      <a:headEnd type="none" w="med" len="med"/>
                      <a:tailEnd type="none" w="med" len="med"/>
                    </a:lnT>
                    <a:lnB w="6350" cap="flat" cmpd="sng" algn="ctr">
                      <a:solidFill>
                        <a:srgbClr val="2A2F38"/>
                      </a:solidFill>
                      <a:prstDash val="solid"/>
                      <a:round/>
                      <a:headEnd type="none" w="med" len="med"/>
                      <a:tailEnd type="none" w="med" len="med"/>
                    </a:lnB>
                    <a:solidFill>
                      <a:srgbClr val="161B22"/>
                    </a:solidFill>
                  </a:tcPr>
                </a:tc>
              </a:tr>
              <a:tr h="502920">
                <a:tc>
                  <a:txBody>
                    <a:bodyPr/>
                    <a:lstStyle/>
                    <a:p>
                      <a:pPr algn="l" indent="0" marL="0">
                        <a:buNone/>
                      </a:pPr>
                      <a:r>
                        <a:rPr lang="en-US" sz="1200" dirty="0">
                          <a:solidFill>
                            <a:srgbClr val="E6E6E6"/>
                          </a:solidFill>
                          <a:latin typeface="Calibri" pitchFamily="34" charset="0"/>
                          <a:ea typeface="Calibri" pitchFamily="34" charset="-122"/>
                          <a:cs typeface="Calibri" pitchFamily="34" charset="-120"/>
                        </a:rPr>
                        <a:t>Amou</a:t>
                      </a:r>
                      <a:endParaRPr lang="en-US" sz="1200" dirty="0">
                        <a:latin typeface="Calibri" charset="0"/>
                        <a:ea typeface="Calibri" charset="0"/>
                        <a:cs typeface="Calibri" charset="0"/>
                      </a:endParaRPr>
                    </a:p>
                  </a:txBody>
                  <a:tcPr marL="91440" marR="91440" marT="45720" marB="45720" anchor="ctr">
                    <a:lnL w="6350" cap="flat" cmpd="sng" algn="ctr">
                      <a:solidFill>
                        <a:srgbClr val="2A2F38"/>
                      </a:solidFill>
                      <a:prstDash val="solid"/>
                      <a:round/>
                      <a:headEnd type="none" w="med" len="med"/>
                      <a:tailEnd type="none" w="med" len="med"/>
                    </a:lnL>
                    <a:lnR w="6350" cap="flat" cmpd="sng" algn="ctr">
                      <a:solidFill>
                        <a:srgbClr val="2A2F38"/>
                      </a:solidFill>
                      <a:prstDash val="solid"/>
                      <a:round/>
                      <a:headEnd type="none" w="med" len="med"/>
                      <a:tailEnd type="none" w="med" len="med"/>
                    </a:lnR>
                    <a:lnT w="6350" cap="flat" cmpd="sng" algn="ctr">
                      <a:solidFill>
                        <a:srgbClr val="2A2F38"/>
                      </a:solidFill>
                      <a:prstDash val="solid"/>
                      <a:round/>
                      <a:headEnd type="none" w="med" len="med"/>
                      <a:tailEnd type="none" w="med" len="med"/>
                    </a:lnT>
                    <a:lnB w="6350" cap="flat" cmpd="sng" algn="ctr">
                      <a:solidFill>
                        <a:srgbClr val="2A2F38"/>
                      </a:solidFill>
                      <a:prstDash val="solid"/>
                      <a:round/>
                      <a:headEnd type="none" w="med" len="med"/>
                      <a:tailEnd type="none" w="med" len="med"/>
                    </a:lnB>
                    <a:solidFill>
                      <a:srgbClr val="0E1117"/>
                    </a:solidFill>
                  </a:tcPr>
                </a:tc>
                <a:tc>
                  <a:txBody>
                    <a:bodyPr/>
                    <a:lstStyle/>
                    <a:p>
                      <a:pPr algn="l" indent="0" marL="0">
                        <a:buNone/>
                      </a:pPr>
                      <a:r>
                        <a:rPr lang="en-US" sz="1200" dirty="0">
                          <a:solidFill>
                            <a:srgbClr val="E6E6E6"/>
                          </a:solidFill>
                          <a:latin typeface="Calibri" pitchFamily="34" charset="0"/>
                          <a:ea typeface="Calibri" pitchFamily="34" charset="-122"/>
                          <a:cs typeface="Calibri" pitchFamily="34" charset="-120"/>
                        </a:rPr>
                        <a:t>Plateaux</a:t>
                      </a:r>
                      <a:endParaRPr lang="en-US" sz="1200" dirty="0">
                        <a:latin typeface="Calibri" charset="0"/>
                        <a:ea typeface="Calibri" charset="0"/>
                        <a:cs typeface="Calibri" charset="0"/>
                      </a:endParaRPr>
                    </a:p>
                  </a:txBody>
                  <a:tcPr marL="91440" marR="91440" marT="45720" marB="45720" anchor="ctr">
                    <a:lnL w="6350" cap="flat" cmpd="sng" algn="ctr">
                      <a:solidFill>
                        <a:srgbClr val="2A2F38"/>
                      </a:solidFill>
                      <a:prstDash val="solid"/>
                      <a:round/>
                      <a:headEnd type="none" w="med" len="med"/>
                      <a:tailEnd type="none" w="med" len="med"/>
                    </a:lnL>
                    <a:lnR w="6350" cap="flat" cmpd="sng" algn="ctr">
                      <a:solidFill>
                        <a:srgbClr val="2A2F38"/>
                      </a:solidFill>
                      <a:prstDash val="solid"/>
                      <a:round/>
                      <a:headEnd type="none" w="med" len="med"/>
                      <a:tailEnd type="none" w="med" len="med"/>
                    </a:lnR>
                    <a:lnT w="6350" cap="flat" cmpd="sng" algn="ctr">
                      <a:solidFill>
                        <a:srgbClr val="2A2F38"/>
                      </a:solidFill>
                      <a:prstDash val="solid"/>
                      <a:round/>
                      <a:headEnd type="none" w="med" len="med"/>
                      <a:tailEnd type="none" w="med" len="med"/>
                    </a:lnT>
                    <a:lnB w="6350" cap="flat" cmpd="sng" algn="ctr">
                      <a:solidFill>
                        <a:srgbClr val="2A2F38"/>
                      </a:solidFill>
                      <a:prstDash val="solid"/>
                      <a:round/>
                      <a:headEnd type="none" w="med" len="med"/>
                      <a:tailEnd type="none" w="med" len="med"/>
                    </a:lnB>
                    <a:solidFill>
                      <a:srgbClr val="0E1117"/>
                    </a:solidFill>
                  </a:tcPr>
                </a:tc>
                <a:tc>
                  <a:txBody>
                    <a:bodyPr/>
                    <a:lstStyle/>
                    <a:p>
                      <a:pPr algn="l" indent="0" marL="0">
                        <a:buNone/>
                      </a:pPr>
                      <a:r>
                        <a:rPr lang="en-US" sz="1200" dirty="0">
                          <a:solidFill>
                            <a:srgbClr val="E6E6E6"/>
                          </a:solidFill>
                          <a:latin typeface="Calibri" pitchFamily="34" charset="0"/>
                          <a:ea typeface="Calibri" pitchFamily="34" charset="-122"/>
                          <a:cs typeface="Calibri" pitchFamily="34" charset="-120"/>
                        </a:rPr>
                        <a:t>114 172</a:t>
                      </a:r>
                      <a:endParaRPr lang="en-US" sz="1200" dirty="0">
                        <a:latin typeface="Calibri" charset="0"/>
                        <a:ea typeface="Calibri" charset="0"/>
                        <a:cs typeface="Calibri" charset="0"/>
                      </a:endParaRPr>
                    </a:p>
                  </a:txBody>
                  <a:tcPr marL="91440" marR="91440" marT="45720" marB="45720" anchor="ctr">
                    <a:lnL w="6350" cap="flat" cmpd="sng" algn="ctr">
                      <a:solidFill>
                        <a:srgbClr val="2A2F38"/>
                      </a:solidFill>
                      <a:prstDash val="solid"/>
                      <a:round/>
                      <a:headEnd type="none" w="med" len="med"/>
                      <a:tailEnd type="none" w="med" len="med"/>
                    </a:lnL>
                    <a:lnR w="6350" cap="flat" cmpd="sng" algn="ctr">
                      <a:solidFill>
                        <a:srgbClr val="2A2F38"/>
                      </a:solidFill>
                      <a:prstDash val="solid"/>
                      <a:round/>
                      <a:headEnd type="none" w="med" len="med"/>
                      <a:tailEnd type="none" w="med" len="med"/>
                    </a:lnR>
                    <a:lnT w="6350" cap="flat" cmpd="sng" algn="ctr">
                      <a:solidFill>
                        <a:srgbClr val="2A2F38"/>
                      </a:solidFill>
                      <a:prstDash val="solid"/>
                      <a:round/>
                      <a:headEnd type="none" w="med" len="med"/>
                      <a:tailEnd type="none" w="med" len="med"/>
                    </a:lnT>
                    <a:lnB w="6350" cap="flat" cmpd="sng" algn="ctr">
                      <a:solidFill>
                        <a:srgbClr val="2A2F38"/>
                      </a:solidFill>
                      <a:prstDash val="solid"/>
                      <a:round/>
                      <a:headEnd type="none" w="med" len="med"/>
                      <a:tailEnd type="none" w="med" len="med"/>
                    </a:lnB>
                    <a:solidFill>
                      <a:srgbClr val="0E1117"/>
                    </a:solidFill>
                  </a:tcPr>
                </a:tc>
                <a:tc>
                  <a:txBody>
                    <a:bodyPr/>
                    <a:lstStyle/>
                    <a:p>
                      <a:pPr algn="l" indent="0" marL="0">
                        <a:buNone/>
                      </a:pPr>
                      <a:r>
                        <a:rPr lang="en-US" sz="1200" dirty="0">
                          <a:solidFill>
                            <a:srgbClr val="E6E6E6"/>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marL="91440" marR="91440" marT="45720" marB="45720" anchor="ctr">
                    <a:lnL w="6350" cap="flat" cmpd="sng" algn="ctr">
                      <a:solidFill>
                        <a:srgbClr val="2A2F38"/>
                      </a:solidFill>
                      <a:prstDash val="solid"/>
                      <a:round/>
                      <a:headEnd type="none" w="med" len="med"/>
                      <a:tailEnd type="none" w="med" len="med"/>
                    </a:lnL>
                    <a:lnR w="6350" cap="flat" cmpd="sng" algn="ctr">
                      <a:solidFill>
                        <a:srgbClr val="2A2F38"/>
                      </a:solidFill>
                      <a:prstDash val="solid"/>
                      <a:round/>
                      <a:headEnd type="none" w="med" len="med"/>
                      <a:tailEnd type="none" w="med" len="med"/>
                    </a:lnR>
                    <a:lnT w="6350" cap="flat" cmpd="sng" algn="ctr">
                      <a:solidFill>
                        <a:srgbClr val="2A2F38"/>
                      </a:solidFill>
                      <a:prstDash val="solid"/>
                      <a:round/>
                      <a:headEnd type="none" w="med" len="med"/>
                      <a:tailEnd type="none" w="med" len="med"/>
                    </a:lnT>
                    <a:lnB w="6350" cap="flat" cmpd="sng" algn="ctr">
                      <a:solidFill>
                        <a:srgbClr val="2A2F38"/>
                      </a:solidFill>
                      <a:prstDash val="solid"/>
                      <a:round/>
                      <a:headEnd type="none" w="med" len="med"/>
                      <a:tailEnd type="none" w="med" len="med"/>
                    </a:lnB>
                    <a:solidFill>
                      <a:srgbClr val="0E1117"/>
                    </a:solidFill>
                  </a:tcPr>
                </a:tc>
              </a:tr>
              <a:tr h="502920">
                <a:tc>
                  <a:txBody>
                    <a:bodyPr/>
                    <a:lstStyle/>
                    <a:p>
                      <a:pPr algn="l" indent="0" marL="0">
                        <a:buNone/>
                      </a:pPr>
                      <a:r>
                        <a:rPr lang="en-US" sz="1200" dirty="0">
                          <a:solidFill>
                            <a:srgbClr val="E6E6E6"/>
                          </a:solidFill>
                          <a:latin typeface="Calibri" pitchFamily="34" charset="0"/>
                          <a:ea typeface="Calibri" pitchFamily="34" charset="-122"/>
                          <a:cs typeface="Calibri" pitchFamily="34" charset="-120"/>
                        </a:rPr>
                        <a:t>Kpendjal-Ouest</a:t>
                      </a:r>
                      <a:endParaRPr lang="en-US" sz="1200" dirty="0">
                        <a:latin typeface="Calibri" charset="0"/>
                        <a:ea typeface="Calibri" charset="0"/>
                        <a:cs typeface="Calibri" charset="0"/>
                      </a:endParaRPr>
                    </a:p>
                  </a:txBody>
                  <a:tcPr marL="91440" marR="91440" marT="45720" marB="45720" anchor="ctr">
                    <a:lnL w="6350" cap="flat" cmpd="sng" algn="ctr">
                      <a:solidFill>
                        <a:srgbClr val="2A2F38"/>
                      </a:solidFill>
                      <a:prstDash val="solid"/>
                      <a:round/>
                      <a:headEnd type="none" w="med" len="med"/>
                      <a:tailEnd type="none" w="med" len="med"/>
                    </a:lnL>
                    <a:lnR w="6350" cap="flat" cmpd="sng" algn="ctr">
                      <a:solidFill>
                        <a:srgbClr val="2A2F38"/>
                      </a:solidFill>
                      <a:prstDash val="solid"/>
                      <a:round/>
                      <a:headEnd type="none" w="med" len="med"/>
                      <a:tailEnd type="none" w="med" len="med"/>
                    </a:lnR>
                    <a:lnT w="6350" cap="flat" cmpd="sng" algn="ctr">
                      <a:solidFill>
                        <a:srgbClr val="2A2F38"/>
                      </a:solidFill>
                      <a:prstDash val="solid"/>
                      <a:round/>
                      <a:headEnd type="none" w="med" len="med"/>
                      <a:tailEnd type="none" w="med" len="med"/>
                    </a:lnT>
                    <a:lnB w="6350" cap="flat" cmpd="sng" algn="ctr">
                      <a:solidFill>
                        <a:srgbClr val="2A2F38"/>
                      </a:solidFill>
                      <a:prstDash val="solid"/>
                      <a:round/>
                      <a:headEnd type="none" w="med" len="med"/>
                      <a:tailEnd type="none" w="med" len="med"/>
                    </a:lnB>
                    <a:solidFill>
                      <a:srgbClr val="161B22"/>
                    </a:solidFill>
                  </a:tcPr>
                </a:tc>
                <a:tc>
                  <a:txBody>
                    <a:bodyPr/>
                    <a:lstStyle/>
                    <a:p>
                      <a:pPr algn="l" indent="0" marL="0">
                        <a:buNone/>
                      </a:pPr>
                      <a:r>
                        <a:rPr lang="en-US" sz="1200" dirty="0">
                          <a:solidFill>
                            <a:srgbClr val="E6E6E6"/>
                          </a:solidFill>
                          <a:latin typeface="Calibri" pitchFamily="34" charset="0"/>
                          <a:ea typeface="Calibri" pitchFamily="34" charset="-122"/>
                          <a:cs typeface="Calibri" pitchFamily="34" charset="-120"/>
                        </a:rPr>
                        <a:t>Savanes</a:t>
                      </a:r>
                      <a:endParaRPr lang="en-US" sz="1200" dirty="0">
                        <a:latin typeface="Calibri" charset="0"/>
                        <a:ea typeface="Calibri" charset="0"/>
                        <a:cs typeface="Calibri" charset="0"/>
                      </a:endParaRPr>
                    </a:p>
                  </a:txBody>
                  <a:tcPr marL="91440" marR="91440" marT="45720" marB="45720" anchor="ctr">
                    <a:lnL w="6350" cap="flat" cmpd="sng" algn="ctr">
                      <a:solidFill>
                        <a:srgbClr val="2A2F38"/>
                      </a:solidFill>
                      <a:prstDash val="solid"/>
                      <a:round/>
                      <a:headEnd type="none" w="med" len="med"/>
                      <a:tailEnd type="none" w="med" len="med"/>
                    </a:lnL>
                    <a:lnR w="6350" cap="flat" cmpd="sng" algn="ctr">
                      <a:solidFill>
                        <a:srgbClr val="2A2F38"/>
                      </a:solidFill>
                      <a:prstDash val="solid"/>
                      <a:round/>
                      <a:headEnd type="none" w="med" len="med"/>
                      <a:tailEnd type="none" w="med" len="med"/>
                    </a:lnR>
                    <a:lnT w="6350" cap="flat" cmpd="sng" algn="ctr">
                      <a:solidFill>
                        <a:srgbClr val="2A2F38"/>
                      </a:solidFill>
                      <a:prstDash val="solid"/>
                      <a:round/>
                      <a:headEnd type="none" w="med" len="med"/>
                      <a:tailEnd type="none" w="med" len="med"/>
                    </a:lnT>
                    <a:lnB w="6350" cap="flat" cmpd="sng" algn="ctr">
                      <a:solidFill>
                        <a:srgbClr val="2A2F38"/>
                      </a:solidFill>
                      <a:prstDash val="solid"/>
                      <a:round/>
                      <a:headEnd type="none" w="med" len="med"/>
                      <a:tailEnd type="none" w="med" len="med"/>
                    </a:lnB>
                    <a:solidFill>
                      <a:srgbClr val="161B22"/>
                    </a:solidFill>
                  </a:tcPr>
                </a:tc>
                <a:tc>
                  <a:txBody>
                    <a:bodyPr/>
                    <a:lstStyle/>
                    <a:p>
                      <a:pPr algn="l" indent="0" marL="0">
                        <a:buNone/>
                      </a:pPr>
                      <a:r>
                        <a:rPr lang="en-US" sz="1200" dirty="0">
                          <a:solidFill>
                            <a:srgbClr val="E6E6E6"/>
                          </a:solidFill>
                          <a:latin typeface="Calibri" pitchFamily="34" charset="0"/>
                          <a:ea typeface="Calibri" pitchFamily="34" charset="-122"/>
                          <a:cs typeface="Calibri" pitchFamily="34" charset="-120"/>
                        </a:rPr>
                        <a:t>123 330</a:t>
                      </a:r>
                      <a:endParaRPr lang="en-US" sz="1200" dirty="0">
                        <a:latin typeface="Calibri" charset="0"/>
                        <a:ea typeface="Calibri" charset="0"/>
                        <a:cs typeface="Calibri" charset="0"/>
                      </a:endParaRPr>
                    </a:p>
                  </a:txBody>
                  <a:tcPr marL="91440" marR="91440" marT="45720" marB="45720" anchor="ctr">
                    <a:lnL w="6350" cap="flat" cmpd="sng" algn="ctr">
                      <a:solidFill>
                        <a:srgbClr val="2A2F38"/>
                      </a:solidFill>
                      <a:prstDash val="solid"/>
                      <a:round/>
                      <a:headEnd type="none" w="med" len="med"/>
                      <a:tailEnd type="none" w="med" len="med"/>
                    </a:lnL>
                    <a:lnR w="6350" cap="flat" cmpd="sng" algn="ctr">
                      <a:solidFill>
                        <a:srgbClr val="2A2F38"/>
                      </a:solidFill>
                      <a:prstDash val="solid"/>
                      <a:round/>
                      <a:headEnd type="none" w="med" len="med"/>
                      <a:tailEnd type="none" w="med" len="med"/>
                    </a:lnR>
                    <a:lnT w="6350" cap="flat" cmpd="sng" algn="ctr">
                      <a:solidFill>
                        <a:srgbClr val="2A2F38"/>
                      </a:solidFill>
                      <a:prstDash val="solid"/>
                      <a:round/>
                      <a:headEnd type="none" w="med" len="med"/>
                      <a:tailEnd type="none" w="med" len="med"/>
                    </a:lnT>
                    <a:lnB w="6350" cap="flat" cmpd="sng" algn="ctr">
                      <a:solidFill>
                        <a:srgbClr val="2A2F38"/>
                      </a:solidFill>
                      <a:prstDash val="solid"/>
                      <a:round/>
                      <a:headEnd type="none" w="med" len="med"/>
                      <a:tailEnd type="none" w="med" len="med"/>
                    </a:lnB>
                    <a:solidFill>
                      <a:srgbClr val="161B22"/>
                    </a:solidFill>
                  </a:tcPr>
                </a:tc>
                <a:tc>
                  <a:txBody>
                    <a:bodyPr/>
                    <a:lstStyle/>
                    <a:p>
                      <a:pPr algn="l" indent="0" marL="0">
                        <a:buNone/>
                      </a:pPr>
                      <a:r>
                        <a:rPr lang="en-US" sz="1200" dirty="0">
                          <a:solidFill>
                            <a:srgbClr val="E6E6E6"/>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marL="91440" marR="91440" marT="45720" marB="45720" anchor="ctr">
                    <a:lnL w="6350" cap="flat" cmpd="sng" algn="ctr">
                      <a:solidFill>
                        <a:srgbClr val="2A2F38"/>
                      </a:solidFill>
                      <a:prstDash val="solid"/>
                      <a:round/>
                      <a:headEnd type="none" w="med" len="med"/>
                      <a:tailEnd type="none" w="med" len="med"/>
                    </a:lnL>
                    <a:lnR w="6350" cap="flat" cmpd="sng" algn="ctr">
                      <a:solidFill>
                        <a:srgbClr val="2A2F38"/>
                      </a:solidFill>
                      <a:prstDash val="solid"/>
                      <a:round/>
                      <a:headEnd type="none" w="med" len="med"/>
                      <a:tailEnd type="none" w="med" len="med"/>
                    </a:lnR>
                    <a:lnT w="6350" cap="flat" cmpd="sng" algn="ctr">
                      <a:solidFill>
                        <a:srgbClr val="2A2F38"/>
                      </a:solidFill>
                      <a:prstDash val="solid"/>
                      <a:round/>
                      <a:headEnd type="none" w="med" len="med"/>
                      <a:tailEnd type="none" w="med" len="med"/>
                    </a:lnT>
                    <a:lnB w="6350" cap="flat" cmpd="sng" algn="ctr">
                      <a:solidFill>
                        <a:srgbClr val="2A2F38"/>
                      </a:solidFill>
                      <a:prstDash val="solid"/>
                      <a:round/>
                      <a:headEnd type="none" w="med" len="med"/>
                      <a:tailEnd type="none" w="med" len="med"/>
                    </a:lnB>
                    <a:solidFill>
                      <a:srgbClr val="161B22"/>
                    </a:solidFill>
                  </a:tcPr>
                </a:tc>
              </a:tr>
              <a:tr h="502920">
                <a:tc>
                  <a:txBody>
                    <a:bodyPr/>
                    <a:lstStyle/>
                    <a:p>
                      <a:pPr algn="l" indent="0" marL="0">
                        <a:buNone/>
                      </a:pPr>
                      <a:r>
                        <a:rPr lang="en-US" sz="1200" dirty="0">
                          <a:solidFill>
                            <a:srgbClr val="E6E6E6"/>
                          </a:solidFill>
                          <a:latin typeface="Calibri" pitchFamily="34" charset="0"/>
                          <a:ea typeface="Calibri" pitchFamily="34" charset="-122"/>
                          <a:cs typeface="Calibri" pitchFamily="34" charset="-120"/>
                        </a:rPr>
                        <a:t>Tandjouaré</a:t>
                      </a:r>
                      <a:endParaRPr lang="en-US" sz="1200" dirty="0">
                        <a:latin typeface="Calibri" charset="0"/>
                        <a:ea typeface="Calibri" charset="0"/>
                        <a:cs typeface="Calibri" charset="0"/>
                      </a:endParaRPr>
                    </a:p>
                  </a:txBody>
                  <a:tcPr marL="91440" marR="91440" marT="45720" marB="45720" anchor="ctr">
                    <a:lnL w="6350" cap="flat" cmpd="sng" algn="ctr">
                      <a:solidFill>
                        <a:srgbClr val="2A2F38"/>
                      </a:solidFill>
                      <a:prstDash val="solid"/>
                      <a:round/>
                      <a:headEnd type="none" w="med" len="med"/>
                      <a:tailEnd type="none" w="med" len="med"/>
                    </a:lnL>
                    <a:lnR w="6350" cap="flat" cmpd="sng" algn="ctr">
                      <a:solidFill>
                        <a:srgbClr val="2A2F38"/>
                      </a:solidFill>
                      <a:prstDash val="solid"/>
                      <a:round/>
                      <a:headEnd type="none" w="med" len="med"/>
                      <a:tailEnd type="none" w="med" len="med"/>
                    </a:lnR>
                    <a:lnT w="6350" cap="flat" cmpd="sng" algn="ctr">
                      <a:solidFill>
                        <a:srgbClr val="2A2F38"/>
                      </a:solidFill>
                      <a:prstDash val="solid"/>
                      <a:round/>
                      <a:headEnd type="none" w="med" len="med"/>
                      <a:tailEnd type="none" w="med" len="med"/>
                    </a:lnT>
                    <a:lnB w="6350" cap="flat" cmpd="sng" algn="ctr">
                      <a:solidFill>
                        <a:srgbClr val="2A2F38"/>
                      </a:solidFill>
                      <a:prstDash val="solid"/>
                      <a:round/>
                      <a:headEnd type="none" w="med" len="med"/>
                      <a:tailEnd type="none" w="med" len="med"/>
                    </a:lnB>
                    <a:solidFill>
                      <a:srgbClr val="0E1117"/>
                    </a:solidFill>
                  </a:tcPr>
                </a:tc>
                <a:tc>
                  <a:txBody>
                    <a:bodyPr/>
                    <a:lstStyle/>
                    <a:p>
                      <a:pPr algn="l" indent="0" marL="0">
                        <a:buNone/>
                      </a:pPr>
                      <a:r>
                        <a:rPr lang="en-US" sz="1200" dirty="0">
                          <a:solidFill>
                            <a:srgbClr val="E6E6E6"/>
                          </a:solidFill>
                          <a:latin typeface="Calibri" pitchFamily="34" charset="0"/>
                          <a:ea typeface="Calibri" pitchFamily="34" charset="-122"/>
                          <a:cs typeface="Calibri" pitchFamily="34" charset="-120"/>
                        </a:rPr>
                        <a:t>Savanes</a:t>
                      </a:r>
                      <a:endParaRPr lang="en-US" sz="1200" dirty="0">
                        <a:latin typeface="Calibri" charset="0"/>
                        <a:ea typeface="Calibri" charset="0"/>
                        <a:cs typeface="Calibri" charset="0"/>
                      </a:endParaRPr>
                    </a:p>
                  </a:txBody>
                  <a:tcPr marL="91440" marR="91440" marT="45720" marB="45720" anchor="ctr">
                    <a:lnL w="6350" cap="flat" cmpd="sng" algn="ctr">
                      <a:solidFill>
                        <a:srgbClr val="2A2F38"/>
                      </a:solidFill>
                      <a:prstDash val="solid"/>
                      <a:round/>
                      <a:headEnd type="none" w="med" len="med"/>
                      <a:tailEnd type="none" w="med" len="med"/>
                    </a:lnL>
                    <a:lnR w="6350" cap="flat" cmpd="sng" algn="ctr">
                      <a:solidFill>
                        <a:srgbClr val="2A2F38"/>
                      </a:solidFill>
                      <a:prstDash val="solid"/>
                      <a:round/>
                      <a:headEnd type="none" w="med" len="med"/>
                      <a:tailEnd type="none" w="med" len="med"/>
                    </a:lnR>
                    <a:lnT w="6350" cap="flat" cmpd="sng" algn="ctr">
                      <a:solidFill>
                        <a:srgbClr val="2A2F38"/>
                      </a:solidFill>
                      <a:prstDash val="solid"/>
                      <a:round/>
                      <a:headEnd type="none" w="med" len="med"/>
                      <a:tailEnd type="none" w="med" len="med"/>
                    </a:lnT>
                    <a:lnB w="6350" cap="flat" cmpd="sng" algn="ctr">
                      <a:solidFill>
                        <a:srgbClr val="2A2F38"/>
                      </a:solidFill>
                      <a:prstDash val="solid"/>
                      <a:round/>
                      <a:headEnd type="none" w="med" len="med"/>
                      <a:tailEnd type="none" w="med" len="med"/>
                    </a:lnB>
                    <a:solidFill>
                      <a:srgbClr val="0E1117"/>
                    </a:solidFill>
                  </a:tcPr>
                </a:tc>
                <a:tc>
                  <a:txBody>
                    <a:bodyPr/>
                    <a:lstStyle/>
                    <a:p>
                      <a:pPr algn="l" indent="0" marL="0">
                        <a:buNone/>
                      </a:pPr>
                      <a:r>
                        <a:rPr lang="en-US" sz="1200" dirty="0">
                          <a:solidFill>
                            <a:srgbClr val="E6E6E6"/>
                          </a:solidFill>
                          <a:latin typeface="Calibri" pitchFamily="34" charset="0"/>
                          <a:ea typeface="Calibri" pitchFamily="34" charset="-122"/>
                          <a:cs typeface="Calibri" pitchFamily="34" charset="-120"/>
                        </a:rPr>
                        <a:t>117 969</a:t>
                      </a:r>
                      <a:endParaRPr lang="en-US" sz="1200" dirty="0">
                        <a:latin typeface="Calibri" charset="0"/>
                        <a:ea typeface="Calibri" charset="0"/>
                        <a:cs typeface="Calibri" charset="0"/>
                      </a:endParaRPr>
                    </a:p>
                  </a:txBody>
                  <a:tcPr marL="91440" marR="91440" marT="45720" marB="45720" anchor="ctr">
                    <a:lnL w="6350" cap="flat" cmpd="sng" algn="ctr">
                      <a:solidFill>
                        <a:srgbClr val="2A2F38"/>
                      </a:solidFill>
                      <a:prstDash val="solid"/>
                      <a:round/>
                      <a:headEnd type="none" w="med" len="med"/>
                      <a:tailEnd type="none" w="med" len="med"/>
                    </a:lnL>
                    <a:lnR w="6350" cap="flat" cmpd="sng" algn="ctr">
                      <a:solidFill>
                        <a:srgbClr val="2A2F38"/>
                      </a:solidFill>
                      <a:prstDash val="solid"/>
                      <a:round/>
                      <a:headEnd type="none" w="med" len="med"/>
                      <a:tailEnd type="none" w="med" len="med"/>
                    </a:lnR>
                    <a:lnT w="6350" cap="flat" cmpd="sng" algn="ctr">
                      <a:solidFill>
                        <a:srgbClr val="2A2F38"/>
                      </a:solidFill>
                      <a:prstDash val="solid"/>
                      <a:round/>
                      <a:headEnd type="none" w="med" len="med"/>
                      <a:tailEnd type="none" w="med" len="med"/>
                    </a:lnT>
                    <a:lnB w="6350" cap="flat" cmpd="sng" algn="ctr">
                      <a:solidFill>
                        <a:srgbClr val="2A2F38"/>
                      </a:solidFill>
                      <a:prstDash val="solid"/>
                      <a:round/>
                      <a:headEnd type="none" w="med" len="med"/>
                      <a:tailEnd type="none" w="med" len="med"/>
                    </a:lnB>
                    <a:solidFill>
                      <a:srgbClr val="0E1117"/>
                    </a:solidFill>
                  </a:tcPr>
                </a:tc>
                <a:tc>
                  <a:txBody>
                    <a:bodyPr/>
                    <a:lstStyle/>
                    <a:p>
                      <a:pPr algn="l" indent="0" marL="0">
                        <a:buNone/>
                      </a:pPr>
                      <a:r>
                        <a:rPr lang="en-US" sz="1200" dirty="0">
                          <a:solidFill>
                            <a:srgbClr val="E6E6E6"/>
                          </a:solidFill>
                          <a:latin typeface="Calibri" pitchFamily="34" charset="0"/>
                          <a:ea typeface="Calibri" pitchFamily="34" charset="-122"/>
                          <a:cs typeface="Calibri" pitchFamily="34" charset="-120"/>
                        </a:rPr>
                        <a:t>0 (159 pts mobile money)</a:t>
                      </a:r>
                      <a:endParaRPr lang="en-US" sz="1200" dirty="0">
                        <a:latin typeface="Calibri" charset="0"/>
                        <a:ea typeface="Calibri" charset="0"/>
                        <a:cs typeface="Calibri" charset="0"/>
                      </a:endParaRPr>
                    </a:p>
                  </a:txBody>
                  <a:tcPr marL="91440" marR="91440" marT="45720" marB="45720" anchor="ctr">
                    <a:lnL w="6350" cap="flat" cmpd="sng" algn="ctr">
                      <a:solidFill>
                        <a:srgbClr val="2A2F38"/>
                      </a:solidFill>
                      <a:prstDash val="solid"/>
                      <a:round/>
                      <a:headEnd type="none" w="med" len="med"/>
                      <a:tailEnd type="none" w="med" len="med"/>
                    </a:lnL>
                    <a:lnR w="6350" cap="flat" cmpd="sng" algn="ctr">
                      <a:solidFill>
                        <a:srgbClr val="2A2F38"/>
                      </a:solidFill>
                      <a:prstDash val="solid"/>
                      <a:round/>
                      <a:headEnd type="none" w="med" len="med"/>
                      <a:tailEnd type="none" w="med" len="med"/>
                    </a:lnR>
                    <a:lnT w="6350" cap="flat" cmpd="sng" algn="ctr">
                      <a:solidFill>
                        <a:srgbClr val="2A2F38"/>
                      </a:solidFill>
                      <a:prstDash val="solid"/>
                      <a:round/>
                      <a:headEnd type="none" w="med" len="med"/>
                      <a:tailEnd type="none" w="med" len="med"/>
                    </a:lnT>
                    <a:lnB w="6350" cap="flat" cmpd="sng" algn="ctr">
                      <a:solidFill>
                        <a:srgbClr val="2A2F38"/>
                      </a:solidFill>
                      <a:prstDash val="solid"/>
                      <a:round/>
                      <a:headEnd type="none" w="med" len="med"/>
                      <a:tailEnd type="none" w="med" len="med"/>
                    </a:lnB>
                    <a:solidFill>
                      <a:srgbClr val="0E1117"/>
                    </a:solidFill>
                  </a:tcPr>
                </a:tc>
              </a:tr>
              <a:tr h="502920">
                <a:tc>
                  <a:txBody>
                    <a:bodyPr/>
                    <a:lstStyle/>
                    <a:p>
                      <a:pPr algn="l" indent="0" marL="0">
                        <a:buNone/>
                      </a:pPr>
                      <a:r>
                        <a:rPr lang="en-US" sz="1200" dirty="0">
                          <a:solidFill>
                            <a:srgbClr val="E6E6E6"/>
                          </a:solidFill>
                          <a:latin typeface="Calibri" pitchFamily="34" charset="0"/>
                          <a:ea typeface="Calibri" pitchFamily="34" charset="-122"/>
                          <a:cs typeface="Calibri" pitchFamily="34" charset="-120"/>
                        </a:rPr>
                        <a:t>Akébou</a:t>
                      </a:r>
                      <a:endParaRPr lang="en-US" sz="1200" dirty="0">
                        <a:latin typeface="Calibri" charset="0"/>
                        <a:ea typeface="Calibri" charset="0"/>
                        <a:cs typeface="Calibri" charset="0"/>
                      </a:endParaRPr>
                    </a:p>
                  </a:txBody>
                  <a:tcPr marL="91440" marR="91440" marT="45720" marB="45720" anchor="ctr">
                    <a:lnL w="6350" cap="flat" cmpd="sng" algn="ctr">
                      <a:solidFill>
                        <a:srgbClr val="2A2F38"/>
                      </a:solidFill>
                      <a:prstDash val="solid"/>
                      <a:round/>
                      <a:headEnd type="none" w="med" len="med"/>
                      <a:tailEnd type="none" w="med" len="med"/>
                    </a:lnL>
                    <a:lnR w="6350" cap="flat" cmpd="sng" algn="ctr">
                      <a:solidFill>
                        <a:srgbClr val="2A2F38"/>
                      </a:solidFill>
                      <a:prstDash val="solid"/>
                      <a:round/>
                      <a:headEnd type="none" w="med" len="med"/>
                      <a:tailEnd type="none" w="med" len="med"/>
                    </a:lnR>
                    <a:lnT w="6350" cap="flat" cmpd="sng" algn="ctr">
                      <a:solidFill>
                        <a:srgbClr val="2A2F38"/>
                      </a:solidFill>
                      <a:prstDash val="solid"/>
                      <a:round/>
                      <a:headEnd type="none" w="med" len="med"/>
                      <a:tailEnd type="none" w="med" len="med"/>
                    </a:lnT>
                    <a:lnB w="6350" cap="flat" cmpd="sng" algn="ctr">
                      <a:solidFill>
                        <a:srgbClr val="2A2F38"/>
                      </a:solidFill>
                      <a:prstDash val="solid"/>
                      <a:round/>
                      <a:headEnd type="none" w="med" len="med"/>
                      <a:tailEnd type="none" w="med" len="med"/>
                    </a:lnB>
                    <a:solidFill>
                      <a:srgbClr val="161B22"/>
                    </a:solidFill>
                  </a:tcPr>
                </a:tc>
                <a:tc>
                  <a:txBody>
                    <a:bodyPr/>
                    <a:lstStyle/>
                    <a:p>
                      <a:pPr algn="l" indent="0" marL="0">
                        <a:buNone/>
                      </a:pPr>
                      <a:r>
                        <a:rPr lang="en-US" sz="1200" dirty="0">
                          <a:solidFill>
                            <a:srgbClr val="E6E6E6"/>
                          </a:solidFill>
                          <a:latin typeface="Calibri" pitchFamily="34" charset="0"/>
                          <a:ea typeface="Calibri" pitchFamily="34" charset="-122"/>
                          <a:cs typeface="Calibri" pitchFamily="34" charset="-120"/>
                        </a:rPr>
                        <a:t>Plateaux</a:t>
                      </a:r>
                      <a:endParaRPr lang="en-US" sz="1200" dirty="0">
                        <a:latin typeface="Calibri" charset="0"/>
                        <a:ea typeface="Calibri" charset="0"/>
                        <a:cs typeface="Calibri" charset="0"/>
                      </a:endParaRPr>
                    </a:p>
                  </a:txBody>
                  <a:tcPr marL="91440" marR="91440" marT="45720" marB="45720" anchor="ctr">
                    <a:lnL w="6350" cap="flat" cmpd="sng" algn="ctr">
                      <a:solidFill>
                        <a:srgbClr val="2A2F38"/>
                      </a:solidFill>
                      <a:prstDash val="solid"/>
                      <a:round/>
                      <a:headEnd type="none" w="med" len="med"/>
                      <a:tailEnd type="none" w="med" len="med"/>
                    </a:lnL>
                    <a:lnR w="6350" cap="flat" cmpd="sng" algn="ctr">
                      <a:solidFill>
                        <a:srgbClr val="2A2F38"/>
                      </a:solidFill>
                      <a:prstDash val="solid"/>
                      <a:round/>
                      <a:headEnd type="none" w="med" len="med"/>
                      <a:tailEnd type="none" w="med" len="med"/>
                    </a:lnR>
                    <a:lnT w="6350" cap="flat" cmpd="sng" algn="ctr">
                      <a:solidFill>
                        <a:srgbClr val="2A2F38"/>
                      </a:solidFill>
                      <a:prstDash val="solid"/>
                      <a:round/>
                      <a:headEnd type="none" w="med" len="med"/>
                      <a:tailEnd type="none" w="med" len="med"/>
                    </a:lnT>
                    <a:lnB w="6350" cap="flat" cmpd="sng" algn="ctr">
                      <a:solidFill>
                        <a:srgbClr val="2A2F38"/>
                      </a:solidFill>
                      <a:prstDash val="solid"/>
                      <a:round/>
                      <a:headEnd type="none" w="med" len="med"/>
                      <a:tailEnd type="none" w="med" len="med"/>
                    </a:lnB>
                    <a:solidFill>
                      <a:srgbClr val="161B22"/>
                    </a:solidFill>
                  </a:tcPr>
                </a:tc>
                <a:tc>
                  <a:txBody>
                    <a:bodyPr/>
                    <a:lstStyle/>
                    <a:p>
                      <a:pPr algn="l" indent="0" marL="0">
                        <a:buNone/>
                      </a:pPr>
                      <a:r>
                        <a:rPr lang="en-US" sz="1200" dirty="0">
                          <a:solidFill>
                            <a:srgbClr val="E6E6E6"/>
                          </a:solidFill>
                          <a:latin typeface="Calibri" pitchFamily="34" charset="0"/>
                          <a:ea typeface="Calibri" pitchFamily="34" charset="-122"/>
                          <a:cs typeface="Calibri" pitchFamily="34" charset="-120"/>
                        </a:rPr>
                        <a:t>73 830</a:t>
                      </a:r>
                      <a:endParaRPr lang="en-US" sz="1200" dirty="0">
                        <a:latin typeface="Calibri" charset="0"/>
                        <a:ea typeface="Calibri" charset="0"/>
                        <a:cs typeface="Calibri" charset="0"/>
                      </a:endParaRPr>
                    </a:p>
                  </a:txBody>
                  <a:tcPr marL="91440" marR="91440" marT="45720" marB="45720" anchor="ctr">
                    <a:lnL w="6350" cap="flat" cmpd="sng" algn="ctr">
                      <a:solidFill>
                        <a:srgbClr val="2A2F38"/>
                      </a:solidFill>
                      <a:prstDash val="solid"/>
                      <a:round/>
                      <a:headEnd type="none" w="med" len="med"/>
                      <a:tailEnd type="none" w="med" len="med"/>
                    </a:lnL>
                    <a:lnR w="6350" cap="flat" cmpd="sng" algn="ctr">
                      <a:solidFill>
                        <a:srgbClr val="2A2F38"/>
                      </a:solidFill>
                      <a:prstDash val="solid"/>
                      <a:round/>
                      <a:headEnd type="none" w="med" len="med"/>
                      <a:tailEnd type="none" w="med" len="med"/>
                    </a:lnR>
                    <a:lnT w="6350" cap="flat" cmpd="sng" algn="ctr">
                      <a:solidFill>
                        <a:srgbClr val="2A2F38"/>
                      </a:solidFill>
                      <a:prstDash val="solid"/>
                      <a:round/>
                      <a:headEnd type="none" w="med" len="med"/>
                      <a:tailEnd type="none" w="med" len="med"/>
                    </a:lnT>
                    <a:lnB w="6350" cap="flat" cmpd="sng" algn="ctr">
                      <a:solidFill>
                        <a:srgbClr val="2A2F38"/>
                      </a:solidFill>
                      <a:prstDash val="solid"/>
                      <a:round/>
                      <a:headEnd type="none" w="med" len="med"/>
                      <a:tailEnd type="none" w="med" len="med"/>
                    </a:lnB>
                    <a:solidFill>
                      <a:srgbClr val="161B22"/>
                    </a:solidFill>
                  </a:tcPr>
                </a:tc>
                <a:tc>
                  <a:txBody>
                    <a:bodyPr/>
                    <a:lstStyle/>
                    <a:p>
                      <a:pPr algn="l" indent="0" marL="0">
                        <a:buNone/>
                      </a:pPr>
                      <a:r>
                        <a:rPr lang="en-US" sz="1200" dirty="0">
                          <a:solidFill>
                            <a:srgbClr val="E6E6E6"/>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marL="91440" marR="91440" marT="45720" marB="45720" anchor="ctr">
                    <a:lnL w="6350" cap="flat" cmpd="sng" algn="ctr">
                      <a:solidFill>
                        <a:srgbClr val="2A2F38"/>
                      </a:solidFill>
                      <a:prstDash val="solid"/>
                      <a:round/>
                      <a:headEnd type="none" w="med" len="med"/>
                      <a:tailEnd type="none" w="med" len="med"/>
                    </a:lnL>
                    <a:lnR w="6350" cap="flat" cmpd="sng" algn="ctr">
                      <a:solidFill>
                        <a:srgbClr val="2A2F38"/>
                      </a:solidFill>
                      <a:prstDash val="solid"/>
                      <a:round/>
                      <a:headEnd type="none" w="med" len="med"/>
                      <a:tailEnd type="none" w="med" len="med"/>
                    </a:lnR>
                    <a:lnT w="6350" cap="flat" cmpd="sng" algn="ctr">
                      <a:solidFill>
                        <a:srgbClr val="2A2F38"/>
                      </a:solidFill>
                      <a:prstDash val="solid"/>
                      <a:round/>
                      <a:headEnd type="none" w="med" len="med"/>
                      <a:tailEnd type="none" w="med" len="med"/>
                    </a:lnT>
                    <a:lnB w="6350" cap="flat" cmpd="sng" algn="ctr">
                      <a:solidFill>
                        <a:srgbClr val="2A2F38"/>
                      </a:solidFill>
                      <a:prstDash val="solid"/>
                      <a:round/>
                      <a:headEnd type="none" w="med" len="med"/>
                      <a:tailEnd type="none" w="med" len="med"/>
                    </a:lnB>
                    <a:solidFill>
                      <a:srgbClr val="161B22"/>
                    </a:solidFill>
                  </a:tcPr>
                </a:tc>
              </a:tr>
            </a:tbl>
          </a:graphicData>
        </a:graphic>
      </p:graphicFrame>
      <p:sp>
        <p:nvSpPr>
          <p:cNvPr id="5" name="Text 2"/>
          <p:cNvSpPr txBox="1"/>
          <p:nvPr/>
        </p:nvSpPr>
        <p:spPr>
          <a:xfrm>
            <a:off x="457200" y="6537960"/>
            <a:ext cx="7315200" cy="274320"/>
          </a:xfrm>
          <a:prstGeom prst="rect">
            <a:avLst/>
          </a:prstGeom>
          <a:noFill/>
          <a:ln/>
        </p:spPr>
        <p:txBody>
          <a:bodyPr wrap="square" lIns="0" tIns="0" rIns="0" bIns="0" rtlCol="0" anchor="ctr"/>
          <a:lstStyle/>
          <a:p>
            <a:pPr indent="0" marL="0">
              <a:buNone/>
            </a:pPr>
            <a:r>
              <a:rPr lang="en-US" sz="900" dirty="0">
                <a:solidFill>
                  <a:srgbClr val="8B949E"/>
                </a:solidFill>
                <a:latin typeface="Calibri" pitchFamily="34" charset="0"/>
                <a:ea typeface="Calibri" pitchFamily="34" charset="-122"/>
                <a:cs typeface="Calibri" pitchFamily="34" charset="-120"/>
              </a:rPr>
              <a:t>Défi 1 · Économie Numérique — Togo AI Lab</a:t>
            </a:r>
            <a:endParaRPr lang="en-US" sz="900" dirty="0"/>
          </a:p>
        </p:txBody>
      </p:sp>
      <p:sp>
        <p:nvSpPr>
          <p:cNvPr id="6" name="Text 3"/>
          <p:cNvSpPr txBox="1"/>
          <p:nvPr/>
        </p:nvSpPr>
        <p:spPr>
          <a:xfrm>
            <a:off x="11521440" y="6537960"/>
            <a:ext cx="365760" cy="274320"/>
          </a:xfrm>
          <a:prstGeom prst="rect">
            <a:avLst/>
          </a:prstGeom>
          <a:noFill/>
          <a:ln/>
        </p:spPr>
        <p:txBody>
          <a:bodyPr wrap="square" lIns="0" tIns="0" rIns="0" bIns="0" rtlCol="0" anchor="ctr"/>
          <a:lstStyle/>
          <a:p>
            <a:pPr algn="r" indent="0" marL="0">
              <a:buNone/>
            </a:pPr>
            <a:r>
              <a:rPr lang="en-US" sz="900" dirty="0">
                <a:solidFill>
                  <a:srgbClr val="8B949E"/>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E1117"/>
        </a:solidFill>
      </p:bgPr>
    </p:bg>
    <p:spTree>
      <p:nvGrpSpPr>
        <p:cNvPr id="1" name=""/>
        <p:cNvGrpSpPr/>
        <p:nvPr/>
      </p:nvGrpSpPr>
      <p:grpSpPr>
        <a:xfrm>
          <a:off x="0" y="0"/>
          <a:ext cx="0" cy="0"/>
          <a:chOff x="0" y="0"/>
          <a:chExt cx="0" cy="0"/>
        </a:xfrm>
      </p:grpSpPr>
      <p:sp>
        <p:nvSpPr>
          <p:cNvPr id="2" name="Text 0"/>
          <p:cNvSpPr txBox="1"/>
          <p:nvPr/>
        </p:nvSpPr>
        <p:spPr>
          <a:xfrm>
            <a:off x="548640" y="411480"/>
            <a:ext cx="5486400" cy="320040"/>
          </a:xfrm>
          <a:prstGeom prst="rect">
            <a:avLst/>
          </a:prstGeom>
          <a:noFill/>
          <a:ln/>
        </p:spPr>
        <p:txBody>
          <a:bodyPr wrap="square" lIns="0" tIns="0" rIns="0" bIns="0" rtlCol="0" anchor="ctr"/>
          <a:lstStyle/>
          <a:p>
            <a:pPr indent="0" marL="0">
              <a:buNone/>
            </a:pPr>
            <a:r>
              <a:rPr lang="en-US" sz="1200" b="1" spc="200" kern="0" dirty="0">
                <a:solidFill>
                  <a:srgbClr val="22C55E"/>
                </a:solidFill>
                <a:latin typeface="Calibri" pitchFamily="34" charset="0"/>
                <a:ea typeface="Calibri" pitchFamily="34" charset="-122"/>
                <a:cs typeface="Calibri" pitchFamily="34" charset="-120"/>
              </a:rPr>
              <a:t>AXE · DÉMOGRAPHIE</a:t>
            </a:r>
            <a:endParaRPr lang="en-US" sz="1200" dirty="0"/>
          </a:p>
        </p:txBody>
      </p:sp>
      <p:sp>
        <p:nvSpPr>
          <p:cNvPr id="3" name="Text 1"/>
          <p:cNvSpPr txBox="1"/>
          <p:nvPr/>
        </p:nvSpPr>
        <p:spPr>
          <a:xfrm>
            <a:off x="548640" y="731520"/>
            <a:ext cx="10972800" cy="640080"/>
          </a:xfrm>
          <a:prstGeom prst="rect">
            <a:avLst/>
          </a:prstGeom>
          <a:noFill/>
          <a:ln/>
        </p:spPr>
        <p:txBody>
          <a:bodyPr wrap="square" lIns="0" tIns="0" rIns="0" bIns="0" rtlCol="0" anchor="ctr"/>
          <a:lstStyle/>
          <a:p>
            <a:pPr indent="0" marL="0">
              <a:buNone/>
            </a:pPr>
            <a:r>
              <a:rPr lang="en-US" sz="2800" b="1" dirty="0">
                <a:solidFill>
                  <a:srgbClr val="E6E6E6"/>
                </a:solidFill>
                <a:latin typeface="Century Schoolbook" pitchFamily="34" charset="0"/>
                <a:ea typeface="Century Schoolbook" pitchFamily="34" charset="-122"/>
                <a:cs typeface="Century Schoolbook" pitchFamily="34" charset="-120"/>
              </a:rPr>
              <a:t>Croiser infrastructures et densité réelle</a:t>
            </a:r>
            <a:endParaRPr lang="en-US" sz="2800" dirty="0"/>
          </a:p>
        </p:txBody>
      </p:sp>
      <p:sp>
        <p:nvSpPr>
          <p:cNvPr id="4" name="Text 2"/>
          <p:cNvSpPr txBox="1"/>
          <p:nvPr/>
        </p:nvSpPr>
        <p:spPr>
          <a:xfrm>
            <a:off x="548640" y="1645920"/>
            <a:ext cx="5394960" cy="1188720"/>
          </a:xfrm>
          <a:prstGeom prst="rect">
            <a:avLst/>
          </a:prstGeom>
          <a:noFill/>
          <a:ln/>
        </p:spPr>
        <p:txBody>
          <a:bodyPr wrap="square" lIns="0" tIns="0" rIns="0" bIns="0" rtlCol="0" anchor="ctr"/>
          <a:lstStyle/>
          <a:p>
            <a:pPr indent="0" marL="0">
              <a:lnSpc>
                <a:spcPct val="125000"/>
              </a:lnSpc>
              <a:buNone/>
            </a:pPr>
            <a:r>
              <a:rPr lang="en-US" sz="1400" dirty="0">
                <a:solidFill>
                  <a:srgbClr val="E6E6E6"/>
                </a:solidFill>
                <a:latin typeface="Calibri" pitchFamily="34" charset="0"/>
                <a:ea typeface="Calibri" pitchFamily="34" charset="-122"/>
                <a:cs typeface="Calibri" pitchFamily="34" charset="-120"/>
              </a:rPr>
              <a:t>Le recensement officiel s'arrête à l'échelle de la préfecture. Pour une lecture plus fine (équivalent lotissement), la grille de population WorldPop (résolution 100m, imagerie satellite + bâti) a été utilisée.</a:t>
            </a:r>
            <a:endParaRPr lang="en-US" sz="1400" dirty="0"/>
          </a:p>
        </p:txBody>
      </p:sp>
      <p:sp>
        <p:nvSpPr>
          <p:cNvPr id="5" name="Text 3"/>
          <p:cNvSpPr txBox="1"/>
          <p:nvPr/>
        </p:nvSpPr>
        <p:spPr>
          <a:xfrm>
            <a:off x="548640" y="3108960"/>
            <a:ext cx="3840480" cy="365760"/>
          </a:xfrm>
          <a:prstGeom prst="rect">
            <a:avLst/>
          </a:prstGeom>
          <a:noFill/>
          <a:ln/>
        </p:spPr>
        <p:txBody>
          <a:bodyPr wrap="square" lIns="0" tIns="0" rIns="0" bIns="0" rtlCol="0" anchor="ctr"/>
          <a:lstStyle/>
          <a:p>
            <a:pPr indent="0" marL="0">
              <a:buNone/>
            </a:pPr>
            <a:r>
              <a:rPr lang="en-US" sz="1200" dirty="0">
                <a:solidFill>
                  <a:srgbClr val="8B949E"/>
                </a:solidFill>
                <a:latin typeface="Calibri" pitchFamily="34" charset="0"/>
                <a:ea typeface="Calibri" pitchFamily="34" charset="-122"/>
                <a:cs typeface="Calibri" pitchFamily="34" charset="-120"/>
              </a:rPr>
              <a:t>Golfe + Lomé Commune (WorldPop)</a:t>
            </a:r>
            <a:endParaRPr lang="en-US" sz="1200" dirty="0"/>
          </a:p>
        </p:txBody>
      </p:sp>
      <p:sp>
        <p:nvSpPr>
          <p:cNvPr id="6" name="Text 4"/>
          <p:cNvSpPr txBox="1"/>
          <p:nvPr/>
        </p:nvSpPr>
        <p:spPr>
          <a:xfrm>
            <a:off x="4389120" y="3108960"/>
            <a:ext cx="1554480" cy="365760"/>
          </a:xfrm>
          <a:prstGeom prst="rect">
            <a:avLst/>
          </a:prstGeom>
          <a:noFill/>
          <a:ln/>
        </p:spPr>
        <p:txBody>
          <a:bodyPr wrap="square" lIns="0" tIns="0" rIns="0" bIns="0" rtlCol="0" anchor="ctr"/>
          <a:lstStyle/>
          <a:p>
            <a:pPr algn="r" indent="0" marL="0">
              <a:buNone/>
            </a:pPr>
            <a:r>
              <a:rPr lang="en-US" sz="1300" b="1" dirty="0">
                <a:solidFill>
                  <a:srgbClr val="22C55E"/>
                </a:solidFill>
                <a:latin typeface="Calibri" pitchFamily="34" charset="0"/>
                <a:ea typeface="Calibri" pitchFamily="34" charset="-122"/>
                <a:cs typeface="Calibri" pitchFamily="34" charset="-120"/>
              </a:rPr>
              <a:t>2 083 340 hab.</a:t>
            </a:r>
            <a:endParaRPr lang="en-US" sz="1300" dirty="0"/>
          </a:p>
        </p:txBody>
      </p:sp>
      <p:sp>
        <p:nvSpPr>
          <p:cNvPr id="7" name="Text 5"/>
          <p:cNvSpPr txBox="1"/>
          <p:nvPr/>
        </p:nvSpPr>
        <p:spPr>
          <a:xfrm>
            <a:off x="548640" y="3566160"/>
            <a:ext cx="3840480" cy="365760"/>
          </a:xfrm>
          <a:prstGeom prst="rect">
            <a:avLst/>
          </a:prstGeom>
          <a:noFill/>
          <a:ln/>
        </p:spPr>
        <p:txBody>
          <a:bodyPr wrap="square" lIns="0" tIns="0" rIns="0" bIns="0" rtlCol="0" anchor="ctr"/>
          <a:lstStyle/>
          <a:p>
            <a:pPr indent="0" marL="0">
              <a:buNone/>
            </a:pPr>
            <a:r>
              <a:rPr lang="en-US" sz="1200" dirty="0">
                <a:solidFill>
                  <a:srgbClr val="8B949E"/>
                </a:solidFill>
                <a:latin typeface="Calibri" pitchFamily="34" charset="0"/>
                <a:ea typeface="Calibri" pitchFamily="34" charset="-122"/>
                <a:cs typeface="Calibri" pitchFamily="34" charset="-120"/>
              </a:rPr>
              <a:t>Golfe + Agoè-Nyivé (recensement 2022)</a:t>
            </a:r>
            <a:endParaRPr lang="en-US" sz="1200" dirty="0"/>
          </a:p>
        </p:txBody>
      </p:sp>
      <p:sp>
        <p:nvSpPr>
          <p:cNvPr id="8" name="Text 6"/>
          <p:cNvSpPr txBox="1"/>
          <p:nvPr/>
        </p:nvSpPr>
        <p:spPr>
          <a:xfrm>
            <a:off x="4389120" y="3566160"/>
            <a:ext cx="1554480" cy="365760"/>
          </a:xfrm>
          <a:prstGeom prst="rect">
            <a:avLst/>
          </a:prstGeom>
          <a:noFill/>
          <a:ln/>
        </p:spPr>
        <p:txBody>
          <a:bodyPr wrap="square" lIns="0" tIns="0" rIns="0" bIns="0" rtlCol="0" anchor="ctr"/>
          <a:lstStyle/>
          <a:p>
            <a:pPr algn="r" indent="0" marL="0">
              <a:buNone/>
            </a:pPr>
            <a:r>
              <a:rPr lang="en-US" sz="1300" b="1" dirty="0">
                <a:solidFill>
                  <a:srgbClr val="22C55E"/>
                </a:solidFill>
                <a:latin typeface="Calibri" pitchFamily="34" charset="0"/>
                <a:ea typeface="Calibri" pitchFamily="34" charset="-122"/>
                <a:cs typeface="Calibri" pitchFamily="34" charset="-120"/>
              </a:rPr>
              <a:t>2 188 376 hab.</a:t>
            </a:r>
            <a:endParaRPr lang="en-US" sz="1300" dirty="0"/>
          </a:p>
        </p:txBody>
      </p:sp>
      <p:sp>
        <p:nvSpPr>
          <p:cNvPr id="9" name="Text 7"/>
          <p:cNvSpPr txBox="1"/>
          <p:nvPr/>
        </p:nvSpPr>
        <p:spPr>
          <a:xfrm>
            <a:off x="548640" y="4023360"/>
            <a:ext cx="3840480" cy="365760"/>
          </a:xfrm>
          <a:prstGeom prst="rect">
            <a:avLst/>
          </a:prstGeom>
          <a:noFill/>
          <a:ln/>
        </p:spPr>
        <p:txBody>
          <a:bodyPr wrap="square" lIns="0" tIns="0" rIns="0" bIns="0" rtlCol="0" anchor="ctr"/>
          <a:lstStyle/>
          <a:p>
            <a:pPr indent="0" marL="0">
              <a:buNone/>
            </a:pPr>
            <a:r>
              <a:rPr lang="en-US" sz="1200" dirty="0">
                <a:solidFill>
                  <a:srgbClr val="8B949E"/>
                </a:solidFill>
                <a:latin typeface="Calibri" pitchFamily="34" charset="0"/>
                <a:ea typeface="Calibri" pitchFamily="34" charset="-122"/>
                <a:cs typeface="Calibri" pitchFamily="34" charset="-120"/>
              </a:rPr>
              <a:t>Écart</a:t>
            </a:r>
            <a:endParaRPr lang="en-US" sz="1200" dirty="0"/>
          </a:p>
        </p:txBody>
      </p:sp>
      <p:sp>
        <p:nvSpPr>
          <p:cNvPr id="10" name="Text 8"/>
          <p:cNvSpPr txBox="1"/>
          <p:nvPr/>
        </p:nvSpPr>
        <p:spPr>
          <a:xfrm>
            <a:off x="4389120" y="4023360"/>
            <a:ext cx="1554480" cy="365760"/>
          </a:xfrm>
          <a:prstGeom prst="rect">
            <a:avLst/>
          </a:prstGeom>
          <a:noFill/>
          <a:ln/>
        </p:spPr>
        <p:txBody>
          <a:bodyPr wrap="square" lIns="0" tIns="0" rIns="0" bIns="0" rtlCol="0" anchor="ctr"/>
          <a:lstStyle/>
          <a:p>
            <a:pPr algn="r" indent="0" marL="0">
              <a:buNone/>
            </a:pPr>
            <a:r>
              <a:rPr lang="en-US" sz="1300" b="1" dirty="0">
                <a:solidFill>
                  <a:srgbClr val="22C55E"/>
                </a:solidFill>
                <a:latin typeface="Calibri" pitchFamily="34" charset="0"/>
                <a:ea typeface="Calibri" pitchFamily="34" charset="-122"/>
                <a:cs typeface="Calibri" pitchFamily="34" charset="-120"/>
              </a:rPr>
              <a:t>≈ 5 %</a:t>
            </a:r>
            <a:endParaRPr lang="en-US" sz="1300" dirty="0"/>
          </a:p>
        </p:txBody>
      </p:sp>
      <p:sp>
        <p:nvSpPr>
          <p:cNvPr id="11" name="Text 9"/>
          <p:cNvSpPr txBox="1"/>
          <p:nvPr/>
        </p:nvSpPr>
        <p:spPr>
          <a:xfrm>
            <a:off x="548640" y="4663440"/>
            <a:ext cx="5394960" cy="731520"/>
          </a:xfrm>
          <a:prstGeom prst="rect">
            <a:avLst/>
          </a:prstGeom>
          <a:noFill/>
          <a:ln/>
        </p:spPr>
        <p:txBody>
          <a:bodyPr wrap="square" lIns="0" tIns="0" rIns="0" bIns="0" rtlCol="0" anchor="ctr"/>
          <a:lstStyle/>
          <a:p>
            <a:pPr indent="0" marL="0">
              <a:buNone/>
            </a:pPr>
            <a:r>
              <a:rPr lang="en-US" sz="1200" i="1" dirty="0">
                <a:solidFill>
                  <a:srgbClr val="8B949E"/>
                </a:solidFill>
                <a:latin typeface="Calibri" pitchFamily="34" charset="0"/>
                <a:ea typeface="Calibri" pitchFamily="34" charset="-122"/>
                <a:cs typeface="Calibri" pitchFamily="34" charset="-120"/>
              </a:rPr>
              <a:t>La grille WorldPop valide la fiabilité du recensement 2022 utilisé pour l'ensemble du diagnostic.</a:t>
            </a:r>
            <a:endParaRPr lang="en-US" sz="1200" dirty="0"/>
          </a:p>
        </p:txBody>
      </p:sp>
      <p:sp>
        <p:nvSpPr>
          <p:cNvPr id="12" name="Shape 10"/>
          <p:cNvSpPr/>
          <p:nvPr/>
        </p:nvSpPr>
        <p:spPr>
          <a:xfrm>
            <a:off x="6309360" y="1645920"/>
            <a:ext cx="5303520" cy="4023360"/>
          </a:xfrm>
          <a:prstGeom prst="roundRect">
            <a:avLst>
              <a:gd name="adj" fmla="val 1818"/>
            </a:avLst>
          </a:prstGeom>
          <a:solidFill>
            <a:srgbClr val="161B22"/>
          </a:solidFill>
          <a:ln w="12700">
            <a:solidFill>
              <a:srgbClr val="2A2F38"/>
            </a:solidFill>
            <a:prstDash val="solid"/>
          </a:ln>
        </p:spPr>
      </p:sp>
      <p:sp>
        <p:nvSpPr>
          <p:cNvPr id="13" name="Text 11"/>
          <p:cNvSpPr txBox="1"/>
          <p:nvPr/>
        </p:nvSpPr>
        <p:spPr>
          <a:xfrm>
            <a:off x="6583680" y="1828800"/>
            <a:ext cx="4754880" cy="365760"/>
          </a:xfrm>
          <a:prstGeom prst="rect">
            <a:avLst/>
          </a:prstGeom>
          <a:noFill/>
          <a:ln/>
        </p:spPr>
        <p:txBody>
          <a:bodyPr wrap="square" lIns="0" tIns="0" rIns="0" bIns="0" rtlCol="0" anchor="ctr"/>
          <a:lstStyle/>
          <a:p>
            <a:pPr indent="0" marL="0">
              <a:buNone/>
            </a:pPr>
            <a:r>
              <a:rPr lang="en-US" sz="1300" b="1" dirty="0">
                <a:solidFill>
                  <a:srgbClr val="22C55E"/>
                </a:solidFill>
                <a:latin typeface="Calibri" pitchFamily="34" charset="0"/>
                <a:ea typeface="Calibri" pitchFamily="34" charset="-122"/>
                <a:cs typeface="Calibri" pitchFamily="34" charset="-120"/>
              </a:rPr>
              <a:t>Top 5 — population réelle (WorldPop 2020)</a:t>
            </a:r>
            <a:endParaRPr lang="en-US" sz="1300" dirty="0"/>
          </a:p>
        </p:txBody>
      </p:sp>
      <p:sp>
        <p:nvSpPr>
          <p:cNvPr id="14" name="Text 12"/>
          <p:cNvSpPr txBox="1"/>
          <p:nvPr/>
        </p:nvSpPr>
        <p:spPr>
          <a:xfrm>
            <a:off x="6583680" y="2377440"/>
            <a:ext cx="2926080" cy="365760"/>
          </a:xfrm>
          <a:prstGeom prst="rect">
            <a:avLst/>
          </a:prstGeom>
          <a:noFill/>
          <a:ln/>
        </p:spPr>
        <p:txBody>
          <a:bodyPr wrap="square" lIns="0" tIns="0" rIns="0" bIns="0" rtlCol="0" anchor="ctr"/>
          <a:lstStyle/>
          <a:p>
            <a:pPr indent="0" marL="0">
              <a:buNone/>
            </a:pPr>
            <a:r>
              <a:rPr lang="en-US" sz="1300" dirty="0">
                <a:solidFill>
                  <a:srgbClr val="E6E6E6"/>
                </a:solidFill>
                <a:latin typeface="Calibri" pitchFamily="34" charset="0"/>
                <a:ea typeface="Calibri" pitchFamily="34" charset="-122"/>
                <a:cs typeface="Calibri" pitchFamily="34" charset="-120"/>
              </a:rPr>
              <a:t>Golfe</a:t>
            </a:r>
            <a:endParaRPr lang="en-US" sz="1300" dirty="0"/>
          </a:p>
        </p:txBody>
      </p:sp>
      <p:sp>
        <p:nvSpPr>
          <p:cNvPr id="15" name="Text 13"/>
          <p:cNvSpPr txBox="1"/>
          <p:nvPr/>
        </p:nvSpPr>
        <p:spPr>
          <a:xfrm>
            <a:off x="9418320" y="2377440"/>
            <a:ext cx="2011680" cy="365760"/>
          </a:xfrm>
          <a:prstGeom prst="rect">
            <a:avLst/>
          </a:prstGeom>
          <a:noFill/>
          <a:ln/>
        </p:spPr>
        <p:txBody>
          <a:bodyPr wrap="square" lIns="0" tIns="0" rIns="0" bIns="0" rtlCol="0" anchor="ctr"/>
          <a:lstStyle/>
          <a:p>
            <a:pPr algn="r" indent="0" marL="0">
              <a:buNone/>
            </a:pPr>
            <a:r>
              <a:rPr lang="en-US" sz="1300" dirty="0">
                <a:solidFill>
                  <a:srgbClr val="8B949E"/>
                </a:solidFill>
                <a:latin typeface="Calibri" pitchFamily="34" charset="0"/>
                <a:ea typeface="Calibri" pitchFamily="34" charset="-122"/>
                <a:cs typeface="Calibri" pitchFamily="34" charset="-120"/>
              </a:rPr>
              <a:t>1 167 541</a:t>
            </a:r>
            <a:endParaRPr lang="en-US" sz="1300" dirty="0"/>
          </a:p>
        </p:txBody>
      </p:sp>
      <p:sp>
        <p:nvSpPr>
          <p:cNvPr id="16" name="Text 14"/>
          <p:cNvSpPr txBox="1"/>
          <p:nvPr/>
        </p:nvSpPr>
        <p:spPr>
          <a:xfrm>
            <a:off x="6583680" y="2944368"/>
            <a:ext cx="2926080" cy="365760"/>
          </a:xfrm>
          <a:prstGeom prst="rect">
            <a:avLst/>
          </a:prstGeom>
          <a:noFill/>
          <a:ln/>
        </p:spPr>
        <p:txBody>
          <a:bodyPr wrap="square" lIns="0" tIns="0" rIns="0" bIns="0" rtlCol="0" anchor="ctr"/>
          <a:lstStyle/>
          <a:p>
            <a:pPr indent="0" marL="0">
              <a:buNone/>
            </a:pPr>
            <a:r>
              <a:rPr lang="en-US" sz="1300" dirty="0">
                <a:solidFill>
                  <a:srgbClr val="E6E6E6"/>
                </a:solidFill>
                <a:latin typeface="Calibri" pitchFamily="34" charset="0"/>
                <a:ea typeface="Calibri" pitchFamily="34" charset="-122"/>
                <a:cs typeface="Calibri" pitchFamily="34" charset="-120"/>
              </a:rPr>
              <a:t>Lomé Commune</a:t>
            </a:r>
            <a:endParaRPr lang="en-US" sz="1300" dirty="0"/>
          </a:p>
        </p:txBody>
      </p:sp>
      <p:sp>
        <p:nvSpPr>
          <p:cNvPr id="17" name="Text 15"/>
          <p:cNvSpPr txBox="1"/>
          <p:nvPr/>
        </p:nvSpPr>
        <p:spPr>
          <a:xfrm>
            <a:off x="9418320" y="2944368"/>
            <a:ext cx="2011680" cy="365760"/>
          </a:xfrm>
          <a:prstGeom prst="rect">
            <a:avLst/>
          </a:prstGeom>
          <a:noFill/>
          <a:ln/>
        </p:spPr>
        <p:txBody>
          <a:bodyPr wrap="square" lIns="0" tIns="0" rIns="0" bIns="0" rtlCol="0" anchor="ctr"/>
          <a:lstStyle/>
          <a:p>
            <a:pPr algn="r" indent="0" marL="0">
              <a:buNone/>
            </a:pPr>
            <a:r>
              <a:rPr lang="en-US" sz="1300" dirty="0">
                <a:solidFill>
                  <a:srgbClr val="8B949E"/>
                </a:solidFill>
                <a:latin typeface="Calibri" pitchFamily="34" charset="0"/>
                <a:ea typeface="Calibri" pitchFamily="34" charset="-122"/>
                <a:cs typeface="Calibri" pitchFamily="34" charset="-120"/>
              </a:rPr>
              <a:t>915 799</a:t>
            </a:r>
            <a:endParaRPr lang="en-US" sz="1300" dirty="0"/>
          </a:p>
        </p:txBody>
      </p:sp>
      <p:sp>
        <p:nvSpPr>
          <p:cNvPr id="18" name="Text 16"/>
          <p:cNvSpPr txBox="1"/>
          <p:nvPr/>
        </p:nvSpPr>
        <p:spPr>
          <a:xfrm>
            <a:off x="6583680" y="3511296"/>
            <a:ext cx="2926080" cy="365760"/>
          </a:xfrm>
          <a:prstGeom prst="rect">
            <a:avLst/>
          </a:prstGeom>
          <a:noFill/>
          <a:ln/>
        </p:spPr>
        <p:txBody>
          <a:bodyPr wrap="square" lIns="0" tIns="0" rIns="0" bIns="0" rtlCol="0" anchor="ctr"/>
          <a:lstStyle/>
          <a:p>
            <a:pPr indent="0" marL="0">
              <a:buNone/>
            </a:pPr>
            <a:r>
              <a:rPr lang="en-US" sz="1300" dirty="0">
                <a:solidFill>
                  <a:srgbClr val="E6E6E6"/>
                </a:solidFill>
                <a:latin typeface="Calibri" pitchFamily="34" charset="0"/>
                <a:ea typeface="Calibri" pitchFamily="34" charset="-122"/>
                <a:cs typeface="Calibri" pitchFamily="34" charset="-120"/>
              </a:rPr>
              <a:t>Zio</a:t>
            </a:r>
            <a:endParaRPr lang="en-US" sz="1300" dirty="0"/>
          </a:p>
        </p:txBody>
      </p:sp>
      <p:sp>
        <p:nvSpPr>
          <p:cNvPr id="19" name="Text 17"/>
          <p:cNvSpPr txBox="1"/>
          <p:nvPr/>
        </p:nvSpPr>
        <p:spPr>
          <a:xfrm>
            <a:off x="9418320" y="3511296"/>
            <a:ext cx="2011680" cy="365760"/>
          </a:xfrm>
          <a:prstGeom prst="rect">
            <a:avLst/>
          </a:prstGeom>
          <a:noFill/>
          <a:ln/>
        </p:spPr>
        <p:txBody>
          <a:bodyPr wrap="square" lIns="0" tIns="0" rIns="0" bIns="0" rtlCol="0" anchor="ctr"/>
          <a:lstStyle/>
          <a:p>
            <a:pPr algn="r" indent="0" marL="0">
              <a:buNone/>
            </a:pPr>
            <a:r>
              <a:rPr lang="en-US" sz="1300" dirty="0">
                <a:solidFill>
                  <a:srgbClr val="8B949E"/>
                </a:solidFill>
                <a:latin typeface="Calibri" pitchFamily="34" charset="0"/>
                <a:ea typeface="Calibri" pitchFamily="34" charset="-122"/>
                <a:cs typeface="Calibri" pitchFamily="34" charset="-120"/>
              </a:rPr>
              <a:t>687 003</a:t>
            </a:r>
            <a:endParaRPr lang="en-US" sz="1300" dirty="0"/>
          </a:p>
        </p:txBody>
      </p:sp>
      <p:sp>
        <p:nvSpPr>
          <p:cNvPr id="20" name="Text 18"/>
          <p:cNvSpPr txBox="1"/>
          <p:nvPr/>
        </p:nvSpPr>
        <p:spPr>
          <a:xfrm>
            <a:off x="6583680" y="4078224"/>
            <a:ext cx="2926080" cy="365760"/>
          </a:xfrm>
          <a:prstGeom prst="rect">
            <a:avLst/>
          </a:prstGeom>
          <a:noFill/>
          <a:ln/>
        </p:spPr>
        <p:txBody>
          <a:bodyPr wrap="square" lIns="0" tIns="0" rIns="0" bIns="0" rtlCol="0" anchor="ctr"/>
          <a:lstStyle/>
          <a:p>
            <a:pPr indent="0" marL="0">
              <a:buNone/>
            </a:pPr>
            <a:r>
              <a:rPr lang="en-US" sz="1300" dirty="0">
                <a:solidFill>
                  <a:srgbClr val="E6E6E6"/>
                </a:solidFill>
                <a:latin typeface="Calibri" pitchFamily="34" charset="0"/>
                <a:ea typeface="Calibri" pitchFamily="34" charset="-122"/>
                <a:cs typeface="Calibri" pitchFamily="34" charset="-120"/>
              </a:rPr>
              <a:t>Tône</a:t>
            </a:r>
            <a:endParaRPr lang="en-US" sz="1300" dirty="0"/>
          </a:p>
        </p:txBody>
      </p:sp>
      <p:sp>
        <p:nvSpPr>
          <p:cNvPr id="21" name="Text 19"/>
          <p:cNvSpPr txBox="1"/>
          <p:nvPr/>
        </p:nvSpPr>
        <p:spPr>
          <a:xfrm>
            <a:off x="9418320" y="4078224"/>
            <a:ext cx="2011680" cy="365760"/>
          </a:xfrm>
          <a:prstGeom prst="rect">
            <a:avLst/>
          </a:prstGeom>
          <a:noFill/>
          <a:ln/>
        </p:spPr>
        <p:txBody>
          <a:bodyPr wrap="square" lIns="0" tIns="0" rIns="0" bIns="0" rtlCol="0" anchor="ctr"/>
          <a:lstStyle/>
          <a:p>
            <a:pPr algn="r" indent="0" marL="0">
              <a:buNone/>
            </a:pPr>
            <a:r>
              <a:rPr lang="en-US" sz="1300" dirty="0">
                <a:solidFill>
                  <a:srgbClr val="8B949E"/>
                </a:solidFill>
                <a:latin typeface="Calibri" pitchFamily="34" charset="0"/>
                <a:ea typeface="Calibri" pitchFamily="34" charset="-122"/>
                <a:cs typeface="Calibri" pitchFamily="34" charset="-120"/>
              </a:rPr>
              <a:t>420 057</a:t>
            </a:r>
            <a:endParaRPr lang="en-US" sz="1300" dirty="0"/>
          </a:p>
        </p:txBody>
      </p:sp>
      <p:sp>
        <p:nvSpPr>
          <p:cNvPr id="22" name="Text 20"/>
          <p:cNvSpPr txBox="1"/>
          <p:nvPr/>
        </p:nvSpPr>
        <p:spPr>
          <a:xfrm>
            <a:off x="6583680" y="4645152"/>
            <a:ext cx="2926080" cy="365760"/>
          </a:xfrm>
          <a:prstGeom prst="rect">
            <a:avLst/>
          </a:prstGeom>
          <a:noFill/>
          <a:ln/>
        </p:spPr>
        <p:txBody>
          <a:bodyPr wrap="square" lIns="0" tIns="0" rIns="0" bIns="0" rtlCol="0" anchor="ctr"/>
          <a:lstStyle/>
          <a:p>
            <a:pPr indent="0" marL="0">
              <a:buNone/>
            </a:pPr>
            <a:r>
              <a:rPr lang="en-US" sz="1300" dirty="0">
                <a:solidFill>
                  <a:srgbClr val="E6E6E6"/>
                </a:solidFill>
                <a:latin typeface="Calibri" pitchFamily="34" charset="0"/>
                <a:ea typeface="Calibri" pitchFamily="34" charset="-122"/>
                <a:cs typeface="Calibri" pitchFamily="34" charset="-120"/>
              </a:rPr>
              <a:t>Oti</a:t>
            </a:r>
            <a:endParaRPr lang="en-US" sz="1300" dirty="0"/>
          </a:p>
        </p:txBody>
      </p:sp>
      <p:sp>
        <p:nvSpPr>
          <p:cNvPr id="23" name="Text 21"/>
          <p:cNvSpPr txBox="1"/>
          <p:nvPr/>
        </p:nvSpPr>
        <p:spPr>
          <a:xfrm>
            <a:off x="9418320" y="4645152"/>
            <a:ext cx="2011680" cy="365760"/>
          </a:xfrm>
          <a:prstGeom prst="rect">
            <a:avLst/>
          </a:prstGeom>
          <a:noFill/>
          <a:ln/>
        </p:spPr>
        <p:txBody>
          <a:bodyPr wrap="square" lIns="0" tIns="0" rIns="0" bIns="0" rtlCol="0" anchor="ctr"/>
          <a:lstStyle/>
          <a:p>
            <a:pPr algn="r" indent="0" marL="0">
              <a:buNone/>
            </a:pPr>
            <a:r>
              <a:rPr lang="en-US" sz="1300" dirty="0">
                <a:solidFill>
                  <a:srgbClr val="8B949E"/>
                </a:solidFill>
                <a:latin typeface="Calibri" pitchFamily="34" charset="0"/>
                <a:ea typeface="Calibri" pitchFamily="34" charset="-122"/>
                <a:cs typeface="Calibri" pitchFamily="34" charset="-120"/>
              </a:rPr>
              <a:t>321 650</a:t>
            </a:r>
            <a:endParaRPr lang="en-US" sz="1300" dirty="0"/>
          </a:p>
        </p:txBody>
      </p:sp>
      <p:sp>
        <p:nvSpPr>
          <p:cNvPr id="24" name="Text 22"/>
          <p:cNvSpPr txBox="1"/>
          <p:nvPr/>
        </p:nvSpPr>
        <p:spPr>
          <a:xfrm>
            <a:off x="457200" y="6537960"/>
            <a:ext cx="7315200" cy="274320"/>
          </a:xfrm>
          <a:prstGeom prst="rect">
            <a:avLst/>
          </a:prstGeom>
          <a:noFill/>
          <a:ln/>
        </p:spPr>
        <p:txBody>
          <a:bodyPr wrap="square" lIns="0" tIns="0" rIns="0" bIns="0" rtlCol="0" anchor="ctr"/>
          <a:lstStyle/>
          <a:p>
            <a:pPr indent="0" marL="0">
              <a:buNone/>
            </a:pPr>
            <a:r>
              <a:rPr lang="en-US" sz="900" dirty="0">
                <a:solidFill>
                  <a:srgbClr val="8B949E"/>
                </a:solidFill>
                <a:latin typeface="Calibri" pitchFamily="34" charset="0"/>
                <a:ea typeface="Calibri" pitchFamily="34" charset="-122"/>
                <a:cs typeface="Calibri" pitchFamily="34" charset="-120"/>
              </a:rPr>
              <a:t>Défi 1 · Économie Numérique — Togo AI Lab</a:t>
            </a:r>
            <a:endParaRPr lang="en-US" sz="900" dirty="0"/>
          </a:p>
        </p:txBody>
      </p:sp>
      <p:sp>
        <p:nvSpPr>
          <p:cNvPr id="25" name="Text 23"/>
          <p:cNvSpPr txBox="1"/>
          <p:nvPr/>
        </p:nvSpPr>
        <p:spPr>
          <a:xfrm>
            <a:off x="11521440" y="6537960"/>
            <a:ext cx="365760" cy="274320"/>
          </a:xfrm>
          <a:prstGeom prst="rect">
            <a:avLst/>
          </a:prstGeom>
          <a:noFill/>
          <a:ln/>
        </p:spPr>
        <p:txBody>
          <a:bodyPr wrap="square" lIns="0" tIns="0" rIns="0" bIns="0" rtlCol="0" anchor="ctr"/>
          <a:lstStyle/>
          <a:p>
            <a:pPr algn="r" indent="0" marL="0">
              <a:buNone/>
            </a:pPr>
            <a:r>
              <a:rPr lang="en-US" sz="900" dirty="0">
                <a:solidFill>
                  <a:srgbClr val="8B949E"/>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E1117"/>
        </a:solidFill>
      </p:bgPr>
    </p:bg>
    <p:spTree>
      <p:nvGrpSpPr>
        <p:cNvPr id="1" name=""/>
        <p:cNvGrpSpPr/>
        <p:nvPr/>
      </p:nvGrpSpPr>
      <p:grpSpPr>
        <a:xfrm>
          <a:off x="0" y="0"/>
          <a:ext cx="0" cy="0"/>
          <a:chOff x="0" y="0"/>
          <a:chExt cx="0" cy="0"/>
        </a:xfrm>
      </p:grpSpPr>
      <p:sp>
        <p:nvSpPr>
          <p:cNvPr id="2" name="Text 0"/>
          <p:cNvSpPr txBox="1"/>
          <p:nvPr/>
        </p:nvSpPr>
        <p:spPr>
          <a:xfrm>
            <a:off x="548640" y="411480"/>
            <a:ext cx="5486400" cy="320040"/>
          </a:xfrm>
          <a:prstGeom prst="rect">
            <a:avLst/>
          </a:prstGeom>
          <a:noFill/>
          <a:ln/>
        </p:spPr>
        <p:txBody>
          <a:bodyPr wrap="square" lIns="0" tIns="0" rIns="0" bIns="0" rtlCol="0" anchor="ctr"/>
          <a:lstStyle/>
          <a:p>
            <a:pPr indent="0" marL="0">
              <a:buNone/>
            </a:pPr>
            <a:r>
              <a:rPr lang="en-US" sz="1200" b="1" spc="200" kern="0" dirty="0">
                <a:solidFill>
                  <a:srgbClr val="22C55E"/>
                </a:solidFill>
                <a:latin typeface="Calibri" pitchFamily="34" charset="0"/>
                <a:ea typeface="Calibri" pitchFamily="34" charset="-122"/>
                <a:cs typeface="Calibri" pitchFamily="34" charset="-120"/>
              </a:rPr>
              <a:t>AXE · INFRASTRUCTURES</a:t>
            </a:r>
            <a:endParaRPr lang="en-US" sz="1200" dirty="0"/>
          </a:p>
        </p:txBody>
      </p:sp>
      <p:sp>
        <p:nvSpPr>
          <p:cNvPr id="3" name="Text 1"/>
          <p:cNvSpPr txBox="1"/>
          <p:nvPr/>
        </p:nvSpPr>
        <p:spPr>
          <a:xfrm>
            <a:off x="548640" y="731520"/>
            <a:ext cx="10972800" cy="640080"/>
          </a:xfrm>
          <a:prstGeom prst="rect">
            <a:avLst/>
          </a:prstGeom>
          <a:noFill/>
          <a:ln/>
        </p:spPr>
        <p:txBody>
          <a:bodyPr wrap="square" lIns="0" tIns="0" rIns="0" bIns="0" rtlCol="0" anchor="ctr"/>
          <a:lstStyle/>
          <a:p>
            <a:pPr indent="0" marL="0">
              <a:buNone/>
            </a:pPr>
            <a:r>
              <a:rPr lang="en-US" sz="2800" b="1" dirty="0">
                <a:solidFill>
                  <a:srgbClr val="E6E6E6"/>
                </a:solidFill>
                <a:latin typeface="Century Schoolbook" pitchFamily="34" charset="0"/>
                <a:ea typeface="Century Schoolbook" pitchFamily="34" charset="-122"/>
                <a:cs typeface="Century Schoolbook" pitchFamily="34" charset="-120"/>
              </a:rPr>
              <a:t>Datacenters et services numériques</a:t>
            </a:r>
            <a:endParaRPr lang="en-US" sz="2800" dirty="0"/>
          </a:p>
        </p:txBody>
      </p:sp>
      <p:sp>
        <p:nvSpPr>
          <p:cNvPr id="4" name="Shape 2"/>
          <p:cNvSpPr/>
          <p:nvPr/>
        </p:nvSpPr>
        <p:spPr>
          <a:xfrm>
            <a:off x="548640" y="1737360"/>
            <a:ext cx="5394960" cy="3931920"/>
          </a:xfrm>
          <a:prstGeom prst="roundRect">
            <a:avLst>
              <a:gd name="adj" fmla="val 1860"/>
            </a:avLst>
          </a:prstGeom>
          <a:solidFill>
            <a:srgbClr val="161B22"/>
          </a:solidFill>
          <a:ln w="12700">
            <a:solidFill>
              <a:srgbClr val="2A2F38"/>
            </a:solidFill>
            <a:prstDash val="solid"/>
          </a:ln>
        </p:spPr>
      </p:sp>
      <p:sp>
        <p:nvSpPr>
          <p:cNvPr id="5" name="Text 3"/>
          <p:cNvSpPr txBox="1"/>
          <p:nvPr/>
        </p:nvSpPr>
        <p:spPr>
          <a:xfrm>
            <a:off x="822960" y="1965960"/>
            <a:ext cx="4846320" cy="365760"/>
          </a:xfrm>
          <a:prstGeom prst="rect">
            <a:avLst/>
          </a:prstGeom>
          <a:noFill/>
          <a:ln/>
        </p:spPr>
        <p:txBody>
          <a:bodyPr wrap="square" lIns="0" tIns="0" rIns="0" bIns="0" rtlCol="0" anchor="ctr"/>
          <a:lstStyle/>
          <a:p>
            <a:pPr indent="0" marL="0">
              <a:buNone/>
            </a:pPr>
            <a:r>
              <a:rPr lang="en-US" sz="1500" b="1" dirty="0">
                <a:solidFill>
                  <a:srgbClr val="E6E6E6"/>
                </a:solidFill>
                <a:latin typeface="Calibri" pitchFamily="34" charset="0"/>
                <a:ea typeface="Calibri" pitchFamily="34" charset="-122"/>
                <a:cs typeface="Calibri" pitchFamily="34" charset="-120"/>
              </a:rPr>
              <a:t>Centres de données</a:t>
            </a:r>
            <a:endParaRPr lang="en-US" sz="1500" dirty="0"/>
          </a:p>
        </p:txBody>
      </p:sp>
      <p:sp>
        <p:nvSpPr>
          <p:cNvPr id="6" name="Text 4"/>
          <p:cNvSpPr txBox="1"/>
          <p:nvPr/>
        </p:nvSpPr>
        <p:spPr>
          <a:xfrm>
            <a:off x="822960" y="2423160"/>
            <a:ext cx="1828800" cy="914400"/>
          </a:xfrm>
          <a:prstGeom prst="rect">
            <a:avLst/>
          </a:prstGeom>
          <a:noFill/>
          <a:ln/>
        </p:spPr>
        <p:txBody>
          <a:bodyPr wrap="square" lIns="0" tIns="0" rIns="0" bIns="0" rtlCol="0" anchor="ctr"/>
          <a:lstStyle/>
          <a:p>
            <a:pPr indent="0" marL="0">
              <a:buNone/>
            </a:pPr>
            <a:r>
              <a:rPr lang="en-US" sz="4800" b="1" dirty="0">
                <a:solidFill>
                  <a:srgbClr val="22C55E"/>
                </a:solidFill>
                <a:latin typeface="Century Schoolbook" pitchFamily="34" charset="0"/>
                <a:ea typeface="Century Schoolbook" pitchFamily="34" charset="-122"/>
                <a:cs typeface="Century Schoolbook" pitchFamily="34" charset="-120"/>
              </a:rPr>
              <a:t>3</a:t>
            </a:r>
            <a:endParaRPr lang="en-US" sz="4800" dirty="0"/>
          </a:p>
        </p:txBody>
      </p:sp>
      <p:sp>
        <p:nvSpPr>
          <p:cNvPr id="7" name="Text 5"/>
          <p:cNvSpPr txBox="1"/>
          <p:nvPr/>
        </p:nvSpPr>
        <p:spPr>
          <a:xfrm>
            <a:off x="822960" y="3383280"/>
            <a:ext cx="4846320" cy="2103120"/>
          </a:xfrm>
          <a:prstGeom prst="rect">
            <a:avLst/>
          </a:prstGeom>
          <a:noFill/>
          <a:ln/>
        </p:spPr>
        <p:txBody>
          <a:bodyPr wrap="square" lIns="0" tIns="0" rIns="0" bIns="0" rtlCol="0" anchor="ctr"/>
          <a:lstStyle/>
          <a:p>
            <a:pPr indent="0" marL="0">
              <a:lnSpc>
                <a:spcPct val="125000"/>
              </a:lnSpc>
              <a:buNone/>
            </a:pPr>
            <a:r>
              <a:rPr lang="en-US" sz="1300" dirty="0">
                <a:solidFill>
                  <a:srgbClr val="8B949E"/>
                </a:solidFill>
                <a:latin typeface="Calibri" pitchFamily="34" charset="0"/>
                <a:ea typeface="Calibri" pitchFamily="34" charset="-122"/>
                <a:cs typeface="Calibri" pitchFamily="34" charset="-120"/>
              </a:rPr>
              <a:t>sites recensés — tous concentrés dans la zone de Lomé. Aucun centre de données n'a été identifié en dehors de la capitale, ce qui concentre la résilience numérique du pays sur un seul territoire.</a:t>
            </a:r>
            <a:endParaRPr lang="en-US" sz="1300" dirty="0"/>
          </a:p>
        </p:txBody>
      </p:sp>
      <p:sp>
        <p:nvSpPr>
          <p:cNvPr id="8" name="Shape 6"/>
          <p:cNvSpPr/>
          <p:nvPr/>
        </p:nvSpPr>
        <p:spPr>
          <a:xfrm>
            <a:off x="6217920" y="1737360"/>
            <a:ext cx="5394960" cy="3931920"/>
          </a:xfrm>
          <a:prstGeom prst="roundRect">
            <a:avLst>
              <a:gd name="adj" fmla="val 1860"/>
            </a:avLst>
          </a:prstGeom>
          <a:solidFill>
            <a:srgbClr val="161B22"/>
          </a:solidFill>
          <a:ln w="12700">
            <a:solidFill>
              <a:srgbClr val="F97316"/>
            </a:solidFill>
            <a:prstDash val="solid"/>
          </a:ln>
        </p:spPr>
      </p:sp>
      <p:sp>
        <p:nvSpPr>
          <p:cNvPr id="9" name="Text 7"/>
          <p:cNvSpPr txBox="1"/>
          <p:nvPr/>
        </p:nvSpPr>
        <p:spPr>
          <a:xfrm>
            <a:off x="6492240" y="1965960"/>
            <a:ext cx="4846320" cy="365760"/>
          </a:xfrm>
          <a:prstGeom prst="rect">
            <a:avLst/>
          </a:prstGeom>
          <a:noFill/>
          <a:ln/>
        </p:spPr>
        <p:txBody>
          <a:bodyPr wrap="square" lIns="0" tIns="0" rIns="0" bIns="0" rtlCol="0" anchor="ctr"/>
          <a:lstStyle/>
          <a:p>
            <a:pPr indent="0" marL="0">
              <a:buNone/>
            </a:pPr>
            <a:r>
              <a:rPr lang="en-US" sz="1500" b="1" dirty="0">
                <a:solidFill>
                  <a:srgbClr val="E6E6E6"/>
                </a:solidFill>
                <a:latin typeface="Calibri" pitchFamily="34" charset="0"/>
                <a:ea typeface="Calibri" pitchFamily="34" charset="-122"/>
                <a:cs typeface="Calibri" pitchFamily="34" charset="-120"/>
              </a:rPr>
              <a:t>Agences CANAL+</a:t>
            </a:r>
            <a:endParaRPr lang="en-US" sz="1500" dirty="0"/>
          </a:p>
        </p:txBody>
      </p:sp>
      <p:sp>
        <p:nvSpPr>
          <p:cNvPr id="10" name="Text 8"/>
          <p:cNvSpPr txBox="1"/>
          <p:nvPr/>
        </p:nvSpPr>
        <p:spPr>
          <a:xfrm>
            <a:off x="6492240" y="2423160"/>
            <a:ext cx="1828800" cy="914400"/>
          </a:xfrm>
          <a:prstGeom prst="rect">
            <a:avLst/>
          </a:prstGeom>
          <a:noFill/>
          <a:ln/>
        </p:spPr>
        <p:txBody>
          <a:bodyPr wrap="square" lIns="0" tIns="0" rIns="0" bIns="0" rtlCol="0" anchor="ctr"/>
          <a:lstStyle/>
          <a:p>
            <a:pPr indent="0" marL="0">
              <a:buNone/>
            </a:pPr>
            <a:r>
              <a:rPr lang="en-US" sz="4800" b="1" dirty="0">
                <a:solidFill>
                  <a:srgbClr val="F97316"/>
                </a:solidFill>
                <a:latin typeface="Century Schoolbook" pitchFamily="34" charset="0"/>
                <a:ea typeface="Century Schoolbook" pitchFamily="34" charset="-122"/>
                <a:cs typeface="Century Schoolbook" pitchFamily="34" charset="-120"/>
              </a:rPr>
              <a:t>0</a:t>
            </a:r>
            <a:endParaRPr lang="en-US" sz="4800" dirty="0"/>
          </a:p>
        </p:txBody>
      </p:sp>
      <p:sp>
        <p:nvSpPr>
          <p:cNvPr id="11" name="Text 9"/>
          <p:cNvSpPr txBox="1"/>
          <p:nvPr/>
        </p:nvSpPr>
        <p:spPr>
          <a:xfrm>
            <a:off x="6492240" y="3383280"/>
            <a:ext cx="4846320" cy="2103120"/>
          </a:xfrm>
          <a:prstGeom prst="rect">
            <a:avLst/>
          </a:prstGeom>
          <a:noFill/>
          <a:ln/>
        </p:spPr>
        <p:txBody>
          <a:bodyPr wrap="square" lIns="0" tIns="0" rIns="0" bIns="0" rtlCol="0" anchor="ctr"/>
          <a:lstStyle/>
          <a:p>
            <a:pPr indent="0" marL="0">
              <a:lnSpc>
                <a:spcPct val="125000"/>
              </a:lnSpc>
              <a:buNone/>
            </a:pPr>
            <a:r>
              <a:rPr lang="en-US" sz="1300" dirty="0">
                <a:solidFill>
                  <a:srgbClr val="8B949E"/>
                </a:solidFill>
                <a:latin typeface="Calibri" pitchFamily="34" charset="0"/>
                <a:ea typeface="Calibri" pitchFamily="34" charset="-122"/>
                <a:cs typeface="Calibri" pitchFamily="34" charset="-120"/>
              </a:rPr>
              <a:t>fichier vide — aucune agence CANAL+ n'est répertoriée dans la base ouverte du défi. Il n'est pas possible de déterminer si cela reflète une absence réelle du réseau ou une donnée manquante à la source.</a:t>
            </a:r>
            <a:endParaRPr lang="en-US" sz="1300" dirty="0"/>
          </a:p>
        </p:txBody>
      </p:sp>
      <p:sp>
        <p:nvSpPr>
          <p:cNvPr id="12" name="Text 10"/>
          <p:cNvSpPr txBox="1"/>
          <p:nvPr/>
        </p:nvSpPr>
        <p:spPr>
          <a:xfrm>
            <a:off x="457200" y="6537960"/>
            <a:ext cx="7315200" cy="274320"/>
          </a:xfrm>
          <a:prstGeom prst="rect">
            <a:avLst/>
          </a:prstGeom>
          <a:noFill/>
          <a:ln/>
        </p:spPr>
        <p:txBody>
          <a:bodyPr wrap="square" lIns="0" tIns="0" rIns="0" bIns="0" rtlCol="0" anchor="ctr"/>
          <a:lstStyle/>
          <a:p>
            <a:pPr indent="0" marL="0">
              <a:buNone/>
            </a:pPr>
            <a:r>
              <a:rPr lang="en-US" sz="900" dirty="0">
                <a:solidFill>
                  <a:srgbClr val="8B949E"/>
                </a:solidFill>
                <a:latin typeface="Calibri" pitchFamily="34" charset="0"/>
                <a:ea typeface="Calibri" pitchFamily="34" charset="-122"/>
                <a:cs typeface="Calibri" pitchFamily="34" charset="-120"/>
              </a:rPr>
              <a:t>Défi 1 · Économie Numérique — Togo AI Lab</a:t>
            </a:r>
            <a:endParaRPr lang="en-US" sz="900" dirty="0"/>
          </a:p>
        </p:txBody>
      </p:sp>
      <p:sp>
        <p:nvSpPr>
          <p:cNvPr id="13" name="Text 11"/>
          <p:cNvSpPr txBox="1"/>
          <p:nvPr/>
        </p:nvSpPr>
        <p:spPr>
          <a:xfrm>
            <a:off x="11521440" y="6537960"/>
            <a:ext cx="365760" cy="274320"/>
          </a:xfrm>
          <a:prstGeom prst="rect">
            <a:avLst/>
          </a:prstGeom>
          <a:noFill/>
          <a:ln/>
        </p:spPr>
        <p:txBody>
          <a:bodyPr wrap="square" lIns="0" tIns="0" rIns="0" bIns="0" rtlCol="0" anchor="ctr"/>
          <a:lstStyle/>
          <a:p>
            <a:pPr algn="r" indent="0" marL="0">
              <a:buNone/>
            </a:pPr>
            <a:r>
              <a:rPr lang="en-US" sz="900" dirty="0">
                <a:solidFill>
                  <a:srgbClr val="8B949E"/>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E1117"/>
        </a:solidFill>
      </p:bgPr>
    </p:bg>
    <p:spTree>
      <p:nvGrpSpPr>
        <p:cNvPr id="1" name=""/>
        <p:cNvGrpSpPr/>
        <p:nvPr/>
      </p:nvGrpSpPr>
      <p:grpSpPr>
        <a:xfrm>
          <a:off x="0" y="0"/>
          <a:ext cx="0" cy="0"/>
          <a:chOff x="0" y="0"/>
          <a:chExt cx="0" cy="0"/>
        </a:xfrm>
      </p:grpSpPr>
      <p:sp>
        <p:nvSpPr>
          <p:cNvPr id="2" name="Text 0"/>
          <p:cNvSpPr txBox="1"/>
          <p:nvPr/>
        </p:nvSpPr>
        <p:spPr>
          <a:xfrm>
            <a:off x="548640" y="411480"/>
            <a:ext cx="5486400" cy="320040"/>
          </a:xfrm>
          <a:prstGeom prst="rect">
            <a:avLst/>
          </a:prstGeom>
          <a:noFill/>
          <a:ln/>
        </p:spPr>
        <p:txBody>
          <a:bodyPr wrap="square" lIns="0" tIns="0" rIns="0" bIns="0" rtlCol="0" anchor="ctr"/>
          <a:lstStyle/>
          <a:p>
            <a:pPr indent="0" marL="0">
              <a:buNone/>
            </a:pPr>
            <a:r>
              <a:rPr lang="en-US" sz="1200" b="1" spc="200" kern="0" dirty="0">
                <a:solidFill>
                  <a:srgbClr val="22C55E"/>
                </a:solidFill>
                <a:latin typeface="Calibri" pitchFamily="34" charset="0"/>
                <a:ea typeface="Calibri" pitchFamily="34" charset="-122"/>
                <a:cs typeface="Calibri" pitchFamily="34" charset="-120"/>
              </a:rPr>
              <a:t>DÉCISION</a:t>
            </a:r>
            <a:endParaRPr lang="en-US" sz="1200" dirty="0"/>
          </a:p>
        </p:txBody>
      </p:sp>
      <p:sp>
        <p:nvSpPr>
          <p:cNvPr id="3" name="Text 1"/>
          <p:cNvSpPr txBox="1"/>
          <p:nvPr/>
        </p:nvSpPr>
        <p:spPr>
          <a:xfrm>
            <a:off x="548640" y="731520"/>
            <a:ext cx="10972800" cy="640080"/>
          </a:xfrm>
          <a:prstGeom prst="rect">
            <a:avLst/>
          </a:prstGeom>
          <a:noFill/>
          <a:ln/>
        </p:spPr>
        <p:txBody>
          <a:bodyPr wrap="square" lIns="0" tIns="0" rIns="0" bIns="0" rtlCol="0" anchor="ctr"/>
          <a:lstStyle/>
          <a:p>
            <a:pPr indent="0" marL="0">
              <a:buNone/>
            </a:pPr>
            <a:r>
              <a:rPr lang="en-US" sz="2800" b="1" dirty="0">
                <a:solidFill>
                  <a:srgbClr val="E6E6E6"/>
                </a:solidFill>
                <a:latin typeface="Century Schoolbook" pitchFamily="34" charset="0"/>
                <a:ea typeface="Century Schoolbook" pitchFamily="34" charset="-122"/>
                <a:cs typeface="Century Schoolbook" pitchFamily="34" charset="-120"/>
              </a:rPr>
              <a:t>Recommandations prioritaires</a:t>
            </a:r>
            <a:endParaRPr lang="en-US" sz="2800" dirty="0"/>
          </a:p>
        </p:txBody>
      </p:sp>
      <p:sp>
        <p:nvSpPr>
          <p:cNvPr id="4" name="Shape 2"/>
          <p:cNvSpPr/>
          <p:nvPr/>
        </p:nvSpPr>
        <p:spPr>
          <a:xfrm>
            <a:off x="548640" y="1737360"/>
            <a:ext cx="11064240" cy="1417320"/>
          </a:xfrm>
          <a:prstGeom prst="roundRect">
            <a:avLst>
              <a:gd name="adj" fmla="val 5161"/>
            </a:avLst>
          </a:prstGeom>
          <a:solidFill>
            <a:srgbClr val="161B22"/>
          </a:solidFill>
          <a:ln w="12700">
            <a:solidFill>
              <a:srgbClr val="2A2F38"/>
            </a:solidFill>
            <a:prstDash val="solid"/>
          </a:ln>
        </p:spPr>
      </p:sp>
      <p:sp>
        <p:nvSpPr>
          <p:cNvPr id="5" name="Shape 3"/>
          <p:cNvSpPr/>
          <p:nvPr/>
        </p:nvSpPr>
        <p:spPr>
          <a:xfrm>
            <a:off x="822960" y="2011680"/>
            <a:ext cx="502920" cy="502920"/>
          </a:xfrm>
          <a:prstGeom prst="ellipse">
            <a:avLst/>
          </a:prstGeom>
          <a:solidFill>
            <a:srgbClr val="EF4444"/>
          </a:solidFill>
          <a:ln/>
        </p:spPr>
      </p:sp>
      <p:sp>
        <p:nvSpPr>
          <p:cNvPr id="6" name="Text 4"/>
          <p:cNvSpPr txBox="1"/>
          <p:nvPr/>
        </p:nvSpPr>
        <p:spPr>
          <a:xfrm>
            <a:off x="822960" y="2011680"/>
            <a:ext cx="502920" cy="502920"/>
          </a:xfrm>
          <a:prstGeom prst="rect">
            <a:avLst/>
          </a:prstGeom>
          <a:noFill/>
          <a:ln/>
        </p:spPr>
        <p:txBody>
          <a:bodyPr wrap="square" lIns="0" tIns="0" rIns="0" bIns="0" rtlCol="0" anchor="ctr"/>
          <a:lstStyle/>
          <a:p>
            <a:pPr algn="ctr" indent="0" marL="0">
              <a:buNone/>
            </a:pPr>
            <a:r>
              <a:rPr lang="en-US" sz="1800" b="1" dirty="0">
                <a:solidFill>
                  <a:srgbClr val="0E1117"/>
                </a:solidFill>
                <a:latin typeface="Calibri" pitchFamily="34" charset="0"/>
                <a:ea typeface="Calibri" pitchFamily="34" charset="-122"/>
                <a:cs typeface="Calibri" pitchFamily="34" charset="-120"/>
              </a:rPr>
              <a:t>1</a:t>
            </a:r>
            <a:endParaRPr lang="en-US" sz="1800" dirty="0"/>
          </a:p>
        </p:txBody>
      </p:sp>
      <p:sp>
        <p:nvSpPr>
          <p:cNvPr id="7" name="Text 5"/>
          <p:cNvSpPr txBox="1"/>
          <p:nvPr/>
        </p:nvSpPr>
        <p:spPr>
          <a:xfrm>
            <a:off x="1554480" y="1874520"/>
            <a:ext cx="9784080" cy="365760"/>
          </a:xfrm>
          <a:prstGeom prst="rect">
            <a:avLst/>
          </a:prstGeom>
          <a:noFill/>
          <a:ln/>
        </p:spPr>
        <p:txBody>
          <a:bodyPr wrap="square" lIns="0" tIns="0" rIns="0" bIns="0" rtlCol="0" anchor="ctr"/>
          <a:lstStyle/>
          <a:p>
            <a:pPr indent="0" marL="0">
              <a:buNone/>
            </a:pPr>
            <a:r>
              <a:rPr lang="en-US" sz="1500" b="1" dirty="0">
                <a:solidFill>
                  <a:srgbClr val="E6E6E6"/>
                </a:solidFill>
                <a:latin typeface="Calibri" pitchFamily="34" charset="0"/>
                <a:ea typeface="Calibri" pitchFamily="34" charset="-122"/>
                <a:cs typeface="Calibri" pitchFamily="34" charset="-120"/>
              </a:rPr>
              <a:t>Fort potentiel commercial</a:t>
            </a:r>
            <a:endParaRPr lang="en-US" sz="1500" dirty="0"/>
          </a:p>
        </p:txBody>
      </p:sp>
      <p:sp>
        <p:nvSpPr>
          <p:cNvPr id="8" name="Text 6"/>
          <p:cNvSpPr txBox="1"/>
          <p:nvPr/>
        </p:nvSpPr>
        <p:spPr>
          <a:xfrm>
            <a:off x="1554480" y="2240280"/>
            <a:ext cx="9784080" cy="868680"/>
          </a:xfrm>
          <a:prstGeom prst="rect">
            <a:avLst/>
          </a:prstGeom>
          <a:noFill/>
          <a:ln/>
        </p:spPr>
        <p:txBody>
          <a:bodyPr wrap="square" lIns="0" tIns="0" rIns="0" bIns="0" rtlCol="0" anchor="ctr"/>
          <a:lstStyle/>
          <a:p>
            <a:pPr indent="0" marL="0">
              <a:lnSpc>
                <a:spcPct val="120000"/>
              </a:lnSpc>
              <a:buNone/>
            </a:pPr>
            <a:r>
              <a:rPr lang="en-US" sz="1200" dirty="0">
                <a:solidFill>
                  <a:srgbClr val="8B949E"/>
                </a:solidFill>
                <a:latin typeface="Calibri" pitchFamily="34" charset="0"/>
                <a:ea typeface="Calibri" pitchFamily="34" charset="-122"/>
                <a:cs typeface="Calibri" pitchFamily="34" charset="-120"/>
              </a:rPr>
              <a:t>Lacs, Vo et Est-Mono cumulent plus de 630 000 habitants sans aucune agence télécom. L'absence d'agence n'y est pas justifiée par une faible densité de population — ces trois préfectures sont la priorité d'expansion la plus impactante.</a:t>
            </a:r>
            <a:endParaRPr lang="en-US" sz="1200" dirty="0"/>
          </a:p>
        </p:txBody>
      </p:sp>
      <p:sp>
        <p:nvSpPr>
          <p:cNvPr id="9" name="Shape 7"/>
          <p:cNvSpPr/>
          <p:nvPr/>
        </p:nvSpPr>
        <p:spPr>
          <a:xfrm>
            <a:off x="548640" y="3337560"/>
            <a:ext cx="11064240" cy="1417320"/>
          </a:xfrm>
          <a:prstGeom prst="roundRect">
            <a:avLst>
              <a:gd name="adj" fmla="val 5161"/>
            </a:avLst>
          </a:prstGeom>
          <a:solidFill>
            <a:srgbClr val="161B22"/>
          </a:solidFill>
          <a:ln w="12700">
            <a:solidFill>
              <a:srgbClr val="2A2F38"/>
            </a:solidFill>
            <a:prstDash val="solid"/>
          </a:ln>
        </p:spPr>
      </p:sp>
      <p:sp>
        <p:nvSpPr>
          <p:cNvPr id="10" name="Shape 8"/>
          <p:cNvSpPr/>
          <p:nvPr/>
        </p:nvSpPr>
        <p:spPr>
          <a:xfrm>
            <a:off x="822960" y="3611880"/>
            <a:ext cx="502920" cy="502920"/>
          </a:xfrm>
          <a:prstGeom prst="ellipse">
            <a:avLst/>
          </a:prstGeom>
          <a:solidFill>
            <a:srgbClr val="F97316"/>
          </a:solidFill>
          <a:ln/>
        </p:spPr>
      </p:sp>
      <p:sp>
        <p:nvSpPr>
          <p:cNvPr id="11" name="Text 9"/>
          <p:cNvSpPr txBox="1"/>
          <p:nvPr/>
        </p:nvSpPr>
        <p:spPr>
          <a:xfrm>
            <a:off x="822960" y="3611880"/>
            <a:ext cx="502920" cy="502920"/>
          </a:xfrm>
          <a:prstGeom prst="rect">
            <a:avLst/>
          </a:prstGeom>
          <a:noFill/>
          <a:ln/>
        </p:spPr>
        <p:txBody>
          <a:bodyPr wrap="square" lIns="0" tIns="0" rIns="0" bIns="0" rtlCol="0" anchor="ctr"/>
          <a:lstStyle/>
          <a:p>
            <a:pPr algn="ctr" indent="0" marL="0">
              <a:buNone/>
            </a:pPr>
            <a:r>
              <a:rPr lang="en-US" sz="1800" b="1" dirty="0">
                <a:solidFill>
                  <a:srgbClr val="0E1117"/>
                </a:solidFill>
                <a:latin typeface="Calibri" pitchFamily="34" charset="0"/>
                <a:ea typeface="Calibri" pitchFamily="34" charset="-122"/>
                <a:cs typeface="Calibri" pitchFamily="34" charset="-120"/>
              </a:rPr>
              <a:t>2</a:t>
            </a:r>
            <a:endParaRPr lang="en-US" sz="1800" dirty="0"/>
          </a:p>
        </p:txBody>
      </p:sp>
      <p:sp>
        <p:nvSpPr>
          <p:cNvPr id="12" name="Text 10"/>
          <p:cNvSpPr txBox="1"/>
          <p:nvPr/>
        </p:nvSpPr>
        <p:spPr>
          <a:xfrm>
            <a:off x="1554480" y="3474720"/>
            <a:ext cx="9784080" cy="365760"/>
          </a:xfrm>
          <a:prstGeom prst="rect">
            <a:avLst/>
          </a:prstGeom>
          <a:noFill/>
          <a:ln/>
        </p:spPr>
        <p:txBody>
          <a:bodyPr wrap="square" lIns="0" tIns="0" rIns="0" bIns="0" rtlCol="0" anchor="ctr"/>
          <a:lstStyle/>
          <a:p>
            <a:pPr indent="0" marL="0">
              <a:buNone/>
            </a:pPr>
            <a:r>
              <a:rPr lang="en-US" sz="1500" b="1" dirty="0">
                <a:solidFill>
                  <a:srgbClr val="E6E6E6"/>
                </a:solidFill>
                <a:latin typeface="Calibri" pitchFamily="34" charset="0"/>
                <a:ea typeface="Calibri" pitchFamily="34" charset="-122"/>
                <a:cs typeface="Calibri" pitchFamily="34" charset="-120"/>
              </a:rPr>
              <a:t>Demande prouvée sans agence physique</a:t>
            </a:r>
            <a:endParaRPr lang="en-US" sz="1500" dirty="0"/>
          </a:p>
        </p:txBody>
      </p:sp>
      <p:sp>
        <p:nvSpPr>
          <p:cNvPr id="13" name="Text 11"/>
          <p:cNvSpPr txBox="1"/>
          <p:nvPr/>
        </p:nvSpPr>
        <p:spPr>
          <a:xfrm>
            <a:off x="1554480" y="3840480"/>
            <a:ext cx="9784080" cy="868680"/>
          </a:xfrm>
          <a:prstGeom prst="rect">
            <a:avLst/>
          </a:prstGeom>
          <a:noFill/>
          <a:ln/>
        </p:spPr>
        <p:txBody>
          <a:bodyPr wrap="square" lIns="0" tIns="0" rIns="0" bIns="0" rtlCol="0" anchor="ctr"/>
          <a:lstStyle/>
          <a:p>
            <a:pPr indent="0" marL="0">
              <a:lnSpc>
                <a:spcPct val="120000"/>
              </a:lnSpc>
              <a:buNone/>
            </a:pPr>
            <a:r>
              <a:rPr lang="en-US" sz="1200" dirty="0">
                <a:solidFill>
                  <a:srgbClr val="8B949E"/>
                </a:solidFill>
                <a:latin typeface="Calibri" pitchFamily="34" charset="0"/>
                <a:ea typeface="Calibri" pitchFamily="34" charset="-122"/>
                <a:cs typeface="Calibri" pitchFamily="34" charset="-120"/>
              </a:rPr>
              <a:t>Tandjouaré (117 969 hab.) compte 159 points mobile money actifs mais aucune agence Togocom ou Moov — un signal de demande réelle que les opérateurs n'ont pas encore converti en présence physique.</a:t>
            </a:r>
            <a:endParaRPr lang="en-US" sz="1200" dirty="0"/>
          </a:p>
        </p:txBody>
      </p:sp>
      <p:sp>
        <p:nvSpPr>
          <p:cNvPr id="14" name="Shape 12"/>
          <p:cNvSpPr/>
          <p:nvPr/>
        </p:nvSpPr>
        <p:spPr>
          <a:xfrm>
            <a:off x="548640" y="4937760"/>
            <a:ext cx="11064240" cy="1417320"/>
          </a:xfrm>
          <a:prstGeom prst="roundRect">
            <a:avLst>
              <a:gd name="adj" fmla="val 5161"/>
            </a:avLst>
          </a:prstGeom>
          <a:solidFill>
            <a:srgbClr val="161B22"/>
          </a:solidFill>
          <a:ln w="12700">
            <a:solidFill>
              <a:srgbClr val="2A2F38"/>
            </a:solidFill>
            <a:prstDash val="solid"/>
          </a:ln>
        </p:spPr>
      </p:sp>
      <p:sp>
        <p:nvSpPr>
          <p:cNvPr id="15" name="Shape 13"/>
          <p:cNvSpPr/>
          <p:nvPr/>
        </p:nvSpPr>
        <p:spPr>
          <a:xfrm>
            <a:off x="822960" y="5212080"/>
            <a:ext cx="502920" cy="502920"/>
          </a:xfrm>
          <a:prstGeom prst="ellipse">
            <a:avLst/>
          </a:prstGeom>
          <a:solidFill>
            <a:srgbClr val="3B82F6"/>
          </a:solidFill>
          <a:ln/>
        </p:spPr>
      </p:sp>
      <p:sp>
        <p:nvSpPr>
          <p:cNvPr id="16" name="Text 14"/>
          <p:cNvSpPr txBox="1"/>
          <p:nvPr/>
        </p:nvSpPr>
        <p:spPr>
          <a:xfrm>
            <a:off x="822960" y="5212080"/>
            <a:ext cx="502920" cy="502920"/>
          </a:xfrm>
          <a:prstGeom prst="rect">
            <a:avLst/>
          </a:prstGeom>
          <a:noFill/>
          <a:ln/>
        </p:spPr>
        <p:txBody>
          <a:bodyPr wrap="square" lIns="0" tIns="0" rIns="0" bIns="0" rtlCol="0" anchor="ctr"/>
          <a:lstStyle/>
          <a:p>
            <a:pPr algn="ctr" indent="0" marL="0">
              <a:buNone/>
            </a:pPr>
            <a:r>
              <a:rPr lang="en-US" sz="1800" b="1" dirty="0">
                <a:solidFill>
                  <a:srgbClr val="0E1117"/>
                </a:solidFill>
                <a:latin typeface="Calibri" pitchFamily="34" charset="0"/>
                <a:ea typeface="Calibri" pitchFamily="34" charset="-122"/>
                <a:cs typeface="Calibri" pitchFamily="34" charset="-120"/>
              </a:rPr>
              <a:t>3</a:t>
            </a:r>
            <a:endParaRPr lang="en-US" sz="1800" dirty="0"/>
          </a:p>
        </p:txBody>
      </p:sp>
      <p:sp>
        <p:nvSpPr>
          <p:cNvPr id="17" name="Text 15"/>
          <p:cNvSpPr txBox="1"/>
          <p:nvPr/>
        </p:nvSpPr>
        <p:spPr>
          <a:xfrm>
            <a:off x="1554480" y="5074920"/>
            <a:ext cx="9784080" cy="365760"/>
          </a:xfrm>
          <a:prstGeom prst="rect">
            <a:avLst/>
          </a:prstGeom>
          <a:noFill/>
          <a:ln/>
        </p:spPr>
        <p:txBody>
          <a:bodyPr wrap="square" lIns="0" tIns="0" rIns="0" bIns="0" rtlCol="0" anchor="ctr"/>
          <a:lstStyle/>
          <a:p>
            <a:pPr indent="0" marL="0">
              <a:buNone/>
            </a:pPr>
            <a:r>
              <a:rPr lang="en-US" sz="1500" b="1" dirty="0">
                <a:solidFill>
                  <a:srgbClr val="E6E6E6"/>
                </a:solidFill>
                <a:latin typeface="Calibri" pitchFamily="34" charset="0"/>
                <a:ea typeface="Calibri" pitchFamily="34" charset="-122"/>
                <a:cs typeface="Calibri" pitchFamily="34" charset="-120"/>
              </a:rPr>
              <a:t>Recommandation méthodologique</a:t>
            </a:r>
            <a:endParaRPr lang="en-US" sz="1500" dirty="0"/>
          </a:p>
        </p:txBody>
      </p:sp>
      <p:sp>
        <p:nvSpPr>
          <p:cNvPr id="18" name="Text 16"/>
          <p:cNvSpPr txBox="1"/>
          <p:nvPr/>
        </p:nvSpPr>
        <p:spPr>
          <a:xfrm>
            <a:off x="1554480" y="5440680"/>
            <a:ext cx="9784080" cy="868680"/>
          </a:xfrm>
          <a:prstGeom prst="rect">
            <a:avLst/>
          </a:prstGeom>
          <a:noFill/>
          <a:ln/>
        </p:spPr>
        <p:txBody>
          <a:bodyPr wrap="square" lIns="0" tIns="0" rIns="0" bIns="0" rtlCol="0" anchor="ctr"/>
          <a:lstStyle/>
          <a:p>
            <a:pPr indent="0" marL="0">
              <a:lnSpc>
                <a:spcPct val="120000"/>
              </a:lnSpc>
              <a:buNone/>
            </a:pPr>
            <a:r>
              <a:rPr lang="en-US" sz="1200" dirty="0">
                <a:solidFill>
                  <a:srgbClr val="8B949E"/>
                </a:solidFill>
                <a:latin typeface="Calibri" pitchFamily="34" charset="0"/>
                <a:ea typeface="Calibri" pitchFamily="34" charset="-122"/>
                <a:cs typeface="Calibri" pitchFamily="34" charset="-120"/>
              </a:rPr>
              <a:t>Aucune donnée ouverte de couverture réseau cellulaire (2G/3G/4G) n'existe pour le Togo. La publication de ces données par l'ARCEP, à l'image de son homologue français, permettrait un diagnostic plus complet à l'avenir.</a:t>
            </a:r>
            <a:endParaRPr lang="en-US" sz="1200" dirty="0"/>
          </a:p>
        </p:txBody>
      </p:sp>
      <p:sp>
        <p:nvSpPr>
          <p:cNvPr id="19" name="Text 17"/>
          <p:cNvSpPr txBox="1"/>
          <p:nvPr/>
        </p:nvSpPr>
        <p:spPr>
          <a:xfrm>
            <a:off x="457200" y="6537960"/>
            <a:ext cx="7315200" cy="274320"/>
          </a:xfrm>
          <a:prstGeom prst="rect">
            <a:avLst/>
          </a:prstGeom>
          <a:noFill/>
          <a:ln/>
        </p:spPr>
        <p:txBody>
          <a:bodyPr wrap="square" lIns="0" tIns="0" rIns="0" bIns="0" rtlCol="0" anchor="ctr"/>
          <a:lstStyle/>
          <a:p>
            <a:pPr indent="0" marL="0">
              <a:buNone/>
            </a:pPr>
            <a:r>
              <a:rPr lang="en-US" sz="900" dirty="0">
                <a:solidFill>
                  <a:srgbClr val="8B949E"/>
                </a:solidFill>
                <a:latin typeface="Calibri" pitchFamily="34" charset="0"/>
                <a:ea typeface="Calibri" pitchFamily="34" charset="-122"/>
                <a:cs typeface="Calibri" pitchFamily="34" charset="-120"/>
              </a:rPr>
              <a:t>Défi 1 · Économie Numérique — Togo AI Lab</a:t>
            </a:r>
            <a:endParaRPr lang="en-US" sz="900" dirty="0"/>
          </a:p>
        </p:txBody>
      </p:sp>
      <p:sp>
        <p:nvSpPr>
          <p:cNvPr id="20" name="Text 18"/>
          <p:cNvSpPr txBox="1"/>
          <p:nvPr/>
        </p:nvSpPr>
        <p:spPr>
          <a:xfrm>
            <a:off x="11521440" y="6537960"/>
            <a:ext cx="365760" cy="274320"/>
          </a:xfrm>
          <a:prstGeom prst="rect">
            <a:avLst/>
          </a:prstGeom>
          <a:noFill/>
          <a:ln/>
        </p:spPr>
        <p:txBody>
          <a:bodyPr wrap="square" lIns="0" tIns="0" rIns="0" bIns="0" rtlCol="0" anchor="ctr"/>
          <a:lstStyle/>
          <a:p>
            <a:pPr algn="r" indent="0" marL="0">
              <a:buNone/>
            </a:pPr>
            <a:r>
              <a:rPr lang="en-US" sz="900" dirty="0">
                <a:solidFill>
                  <a:srgbClr val="8B949E"/>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E1117"/>
        </a:solidFill>
      </p:bgPr>
    </p:bg>
    <p:spTree>
      <p:nvGrpSpPr>
        <p:cNvPr id="1" name=""/>
        <p:cNvGrpSpPr/>
        <p:nvPr/>
      </p:nvGrpSpPr>
      <p:grpSpPr>
        <a:xfrm>
          <a:off x="0" y="0"/>
          <a:ext cx="0" cy="0"/>
          <a:chOff x="0" y="0"/>
          <a:chExt cx="0" cy="0"/>
        </a:xfrm>
      </p:grpSpPr>
      <p:sp>
        <p:nvSpPr>
          <p:cNvPr id="2" name="Text 0"/>
          <p:cNvSpPr txBox="1"/>
          <p:nvPr/>
        </p:nvSpPr>
        <p:spPr>
          <a:xfrm>
            <a:off x="548640" y="411480"/>
            <a:ext cx="5486400" cy="320040"/>
          </a:xfrm>
          <a:prstGeom prst="rect">
            <a:avLst/>
          </a:prstGeom>
          <a:noFill/>
          <a:ln/>
        </p:spPr>
        <p:txBody>
          <a:bodyPr wrap="square" lIns="0" tIns="0" rIns="0" bIns="0" rtlCol="0" anchor="ctr"/>
          <a:lstStyle/>
          <a:p>
            <a:pPr indent="0" marL="0">
              <a:buNone/>
            </a:pPr>
            <a:r>
              <a:rPr lang="en-US" sz="1200" b="1" spc="200" kern="0" dirty="0">
                <a:solidFill>
                  <a:srgbClr val="22C55E"/>
                </a:solidFill>
                <a:latin typeface="Calibri" pitchFamily="34" charset="0"/>
                <a:ea typeface="Calibri" pitchFamily="34" charset="-122"/>
                <a:cs typeface="Calibri" pitchFamily="34" charset="-120"/>
              </a:rPr>
              <a:t>SYNTHÈSE FINALE</a:t>
            </a:r>
            <a:endParaRPr lang="en-US" sz="1200" dirty="0"/>
          </a:p>
        </p:txBody>
      </p:sp>
      <p:sp>
        <p:nvSpPr>
          <p:cNvPr id="3" name="Text 1"/>
          <p:cNvSpPr txBox="1"/>
          <p:nvPr/>
        </p:nvSpPr>
        <p:spPr>
          <a:xfrm>
            <a:off x="548640" y="731520"/>
            <a:ext cx="10972800" cy="640080"/>
          </a:xfrm>
          <a:prstGeom prst="rect">
            <a:avLst/>
          </a:prstGeom>
          <a:noFill/>
          <a:ln/>
        </p:spPr>
        <p:txBody>
          <a:bodyPr wrap="square" lIns="0" tIns="0" rIns="0" bIns="0" rtlCol="0" anchor="ctr"/>
          <a:lstStyle/>
          <a:p>
            <a:pPr indent="0" marL="0">
              <a:buNone/>
            </a:pPr>
            <a:r>
              <a:rPr lang="en-US" sz="2800" b="1" dirty="0">
                <a:solidFill>
                  <a:srgbClr val="E6E6E6"/>
                </a:solidFill>
                <a:latin typeface="Century Schoolbook" pitchFamily="34" charset="0"/>
                <a:ea typeface="Century Schoolbook" pitchFamily="34" charset="-122"/>
                <a:cs typeface="Century Schoolbook" pitchFamily="34" charset="-120"/>
              </a:rPr>
              <a:t>Limites méthodologiques</a:t>
            </a:r>
            <a:endParaRPr lang="en-US" sz="2800" dirty="0"/>
          </a:p>
        </p:txBody>
      </p:sp>
      <p:sp>
        <p:nvSpPr>
          <p:cNvPr id="4" name="Shape 2"/>
          <p:cNvSpPr/>
          <p:nvPr/>
        </p:nvSpPr>
        <p:spPr>
          <a:xfrm>
            <a:off x="548640" y="1764792"/>
            <a:ext cx="109728" cy="109728"/>
          </a:xfrm>
          <a:prstGeom prst="ellipse">
            <a:avLst/>
          </a:prstGeom>
          <a:solidFill>
            <a:srgbClr val="F97316"/>
          </a:solidFill>
          <a:ln/>
        </p:spPr>
      </p:sp>
      <p:sp>
        <p:nvSpPr>
          <p:cNvPr id="5" name="Text 3"/>
          <p:cNvSpPr txBox="1"/>
          <p:nvPr/>
        </p:nvSpPr>
        <p:spPr>
          <a:xfrm>
            <a:off x="868680" y="1691640"/>
            <a:ext cx="10698480" cy="685800"/>
          </a:xfrm>
          <a:prstGeom prst="rect">
            <a:avLst/>
          </a:prstGeom>
          <a:noFill/>
          <a:ln/>
        </p:spPr>
        <p:txBody>
          <a:bodyPr wrap="square" lIns="0" tIns="0" rIns="0" bIns="0" rtlCol="0" anchor="ctr"/>
          <a:lstStyle/>
          <a:p>
            <a:pPr indent="0" marL="0">
              <a:lnSpc>
                <a:spcPct val="120000"/>
              </a:lnSpc>
              <a:buNone/>
            </a:pPr>
            <a:r>
              <a:rPr lang="en-US" sz="1300" dirty="0">
                <a:solidFill>
                  <a:srgbClr val="E6E6E6"/>
                </a:solidFill>
                <a:latin typeface="Calibri" pitchFamily="34" charset="0"/>
                <a:ea typeface="Calibri" pitchFamily="34" charset="-122"/>
                <a:cs typeface="Calibri" pitchFamily="34" charset="-120"/>
              </a:rPr>
              <a:t>Couverture réseau cellulaire (2G/3G/4G) indisponible en source ouverte pour le Togo — la présence d'agences et de points mobile money est utilisée comme proxy indirect.</a:t>
            </a:r>
            <a:endParaRPr lang="en-US" sz="1300" dirty="0"/>
          </a:p>
        </p:txBody>
      </p:sp>
      <p:sp>
        <p:nvSpPr>
          <p:cNvPr id="6" name="Shape 4"/>
          <p:cNvSpPr/>
          <p:nvPr/>
        </p:nvSpPr>
        <p:spPr>
          <a:xfrm>
            <a:off x="548640" y="2542032"/>
            <a:ext cx="109728" cy="109728"/>
          </a:xfrm>
          <a:prstGeom prst="ellipse">
            <a:avLst/>
          </a:prstGeom>
          <a:solidFill>
            <a:srgbClr val="F97316"/>
          </a:solidFill>
          <a:ln/>
        </p:spPr>
      </p:sp>
      <p:sp>
        <p:nvSpPr>
          <p:cNvPr id="7" name="Text 5"/>
          <p:cNvSpPr txBox="1"/>
          <p:nvPr/>
        </p:nvSpPr>
        <p:spPr>
          <a:xfrm>
            <a:off x="868680" y="2468880"/>
            <a:ext cx="10698480" cy="685800"/>
          </a:xfrm>
          <a:prstGeom prst="rect">
            <a:avLst/>
          </a:prstGeom>
          <a:noFill/>
          <a:ln/>
        </p:spPr>
        <p:txBody>
          <a:bodyPr wrap="square" lIns="0" tIns="0" rIns="0" bIns="0" rtlCol="0" anchor="ctr"/>
          <a:lstStyle/>
          <a:p>
            <a:pPr indent="0" marL="0">
              <a:lnSpc>
                <a:spcPct val="120000"/>
              </a:lnSpc>
              <a:buNone/>
            </a:pPr>
            <a:r>
              <a:rPr lang="en-US" sz="1300" dirty="0">
                <a:solidFill>
                  <a:srgbClr val="E6E6E6"/>
                </a:solidFill>
                <a:latin typeface="Calibri" pitchFamily="34" charset="0"/>
                <a:ea typeface="Calibri" pitchFamily="34" charset="-122"/>
                <a:cs typeface="Calibri" pitchFamily="34" charset="-120"/>
              </a:rPr>
              <a:t>Fichier CANAL+ vide à la source — non exploitable, sans confirmation qu'il s'agit d'une absence réelle du réseau.</a:t>
            </a:r>
            <a:endParaRPr lang="en-US" sz="1300" dirty="0"/>
          </a:p>
        </p:txBody>
      </p:sp>
      <p:sp>
        <p:nvSpPr>
          <p:cNvPr id="8" name="Shape 6"/>
          <p:cNvSpPr/>
          <p:nvPr/>
        </p:nvSpPr>
        <p:spPr>
          <a:xfrm>
            <a:off x="548640" y="3319272"/>
            <a:ext cx="109728" cy="109728"/>
          </a:xfrm>
          <a:prstGeom prst="ellipse">
            <a:avLst/>
          </a:prstGeom>
          <a:solidFill>
            <a:srgbClr val="F97316"/>
          </a:solidFill>
          <a:ln/>
        </p:spPr>
      </p:sp>
      <p:sp>
        <p:nvSpPr>
          <p:cNvPr id="9" name="Text 7"/>
          <p:cNvSpPr txBox="1"/>
          <p:nvPr/>
        </p:nvSpPr>
        <p:spPr>
          <a:xfrm>
            <a:off x="868680" y="3246120"/>
            <a:ext cx="10698480" cy="685800"/>
          </a:xfrm>
          <a:prstGeom prst="rect">
            <a:avLst/>
          </a:prstGeom>
          <a:noFill/>
          <a:ln/>
        </p:spPr>
        <p:txBody>
          <a:bodyPr wrap="square" lIns="0" tIns="0" rIns="0" bIns="0" rtlCol="0" anchor="ctr"/>
          <a:lstStyle/>
          <a:p>
            <a:pPr indent="0" marL="0">
              <a:lnSpc>
                <a:spcPct val="120000"/>
              </a:lnSpc>
              <a:buNone/>
            </a:pPr>
            <a:r>
              <a:rPr lang="en-US" sz="1300" dirty="0">
                <a:solidFill>
                  <a:srgbClr val="E6E6E6"/>
                </a:solidFill>
                <a:latin typeface="Calibri" pitchFamily="34" charset="0"/>
                <a:ea typeface="Calibri" pitchFamily="34" charset="-122"/>
                <a:cs typeface="Calibri" pitchFamily="34" charset="-120"/>
              </a:rPr>
              <a:t>3 préfectures récentes (Agoè-Nyivé, Kpendjal-Ouest, Oti-Sud) fusionnées avec leur préfecture-mère sur la carte, faute de contours GeoJSON à jour.</a:t>
            </a:r>
            <a:endParaRPr lang="en-US" sz="1300" dirty="0"/>
          </a:p>
        </p:txBody>
      </p:sp>
      <p:sp>
        <p:nvSpPr>
          <p:cNvPr id="10" name="Shape 8"/>
          <p:cNvSpPr/>
          <p:nvPr/>
        </p:nvSpPr>
        <p:spPr>
          <a:xfrm>
            <a:off x="548640" y="4297680"/>
            <a:ext cx="11064240" cy="1737360"/>
          </a:xfrm>
          <a:prstGeom prst="roundRect">
            <a:avLst>
              <a:gd name="adj" fmla="val 4211"/>
            </a:avLst>
          </a:prstGeom>
          <a:solidFill>
            <a:srgbClr val="161B22"/>
          </a:solidFill>
          <a:ln w="12700">
            <a:solidFill>
              <a:srgbClr val="22C55E"/>
            </a:solidFill>
            <a:prstDash val="solid"/>
          </a:ln>
        </p:spPr>
      </p:sp>
      <p:sp>
        <p:nvSpPr>
          <p:cNvPr id="11" name="Text 9"/>
          <p:cNvSpPr txBox="1"/>
          <p:nvPr/>
        </p:nvSpPr>
        <p:spPr>
          <a:xfrm>
            <a:off x="868680" y="4526280"/>
            <a:ext cx="10058400" cy="365760"/>
          </a:xfrm>
          <a:prstGeom prst="rect">
            <a:avLst/>
          </a:prstGeom>
          <a:noFill/>
          <a:ln/>
        </p:spPr>
        <p:txBody>
          <a:bodyPr wrap="square" lIns="0" tIns="0" rIns="0" bIns="0" rtlCol="0" anchor="ctr"/>
          <a:lstStyle/>
          <a:p>
            <a:pPr indent="0" marL="0">
              <a:buNone/>
            </a:pPr>
            <a:r>
              <a:rPr lang="en-US" sz="1400" b="1" dirty="0">
                <a:solidFill>
                  <a:srgbClr val="22C55E"/>
                </a:solidFill>
                <a:latin typeface="Calibri" pitchFamily="34" charset="0"/>
                <a:ea typeface="Calibri" pitchFamily="34" charset="-122"/>
                <a:cs typeface="Calibri" pitchFamily="34" charset="-120"/>
              </a:rPr>
              <a:t>En résumé</a:t>
            </a:r>
            <a:endParaRPr lang="en-US" sz="1400" dirty="0"/>
          </a:p>
        </p:txBody>
      </p:sp>
      <p:sp>
        <p:nvSpPr>
          <p:cNvPr id="12" name="Text 10"/>
          <p:cNvSpPr txBox="1"/>
          <p:nvPr/>
        </p:nvSpPr>
        <p:spPr>
          <a:xfrm>
            <a:off x="868680" y="4937760"/>
            <a:ext cx="10424160" cy="1005840"/>
          </a:xfrm>
          <a:prstGeom prst="rect">
            <a:avLst/>
          </a:prstGeom>
          <a:noFill/>
          <a:ln/>
        </p:spPr>
        <p:txBody>
          <a:bodyPr wrap="square" lIns="0" tIns="0" rIns="0" bIns="0" rtlCol="0" anchor="ctr"/>
          <a:lstStyle/>
          <a:p>
            <a:pPr indent="0" marL="0">
              <a:lnSpc>
                <a:spcPct val="125000"/>
              </a:lnSpc>
              <a:buNone/>
            </a:pPr>
            <a:r>
              <a:rPr lang="en-US" sz="1400" dirty="0">
                <a:solidFill>
                  <a:srgbClr val="E6E6E6"/>
                </a:solidFill>
                <a:latin typeface="Calibri" pitchFamily="34" charset="0"/>
                <a:ea typeface="Calibri" pitchFamily="34" charset="-122"/>
                <a:cs typeface="Calibri" pitchFamily="34" charset="-120"/>
              </a:rPr>
              <a:t>88 % des cantons togolais n'ont aucune agence télécom recensée. Trois préfectures peuplées (Lacs, Vo, Est-Mono) sans aucune agence, et Tandjouaré où une demande mobile money active existe sans agence physique, constituent les priorités d'expansion à plus fort impact pour réduire la fracture numérique.</a:t>
            </a:r>
            <a:endParaRPr lang="en-US" sz="1400" dirty="0"/>
          </a:p>
        </p:txBody>
      </p:sp>
      <p:sp>
        <p:nvSpPr>
          <p:cNvPr id="13" name="Text 11"/>
          <p:cNvSpPr txBox="1"/>
          <p:nvPr/>
        </p:nvSpPr>
        <p:spPr>
          <a:xfrm>
            <a:off x="457200" y="6537960"/>
            <a:ext cx="7315200" cy="274320"/>
          </a:xfrm>
          <a:prstGeom prst="rect">
            <a:avLst/>
          </a:prstGeom>
          <a:noFill/>
          <a:ln/>
        </p:spPr>
        <p:txBody>
          <a:bodyPr wrap="square" lIns="0" tIns="0" rIns="0" bIns="0" rtlCol="0" anchor="ctr"/>
          <a:lstStyle/>
          <a:p>
            <a:pPr indent="0" marL="0">
              <a:buNone/>
            </a:pPr>
            <a:r>
              <a:rPr lang="en-US" sz="900" dirty="0">
                <a:solidFill>
                  <a:srgbClr val="8B949E"/>
                </a:solidFill>
                <a:latin typeface="Calibri" pitchFamily="34" charset="0"/>
                <a:ea typeface="Calibri" pitchFamily="34" charset="-122"/>
                <a:cs typeface="Calibri" pitchFamily="34" charset="-120"/>
              </a:rPr>
              <a:t>Défi 1 · Économie Numérique — Togo AI Lab</a:t>
            </a:r>
            <a:endParaRPr lang="en-US" sz="900" dirty="0"/>
          </a:p>
        </p:txBody>
      </p:sp>
      <p:sp>
        <p:nvSpPr>
          <p:cNvPr id="14" name="Text 12"/>
          <p:cNvSpPr txBox="1"/>
          <p:nvPr/>
        </p:nvSpPr>
        <p:spPr>
          <a:xfrm>
            <a:off x="11521440" y="6537960"/>
            <a:ext cx="365760" cy="274320"/>
          </a:xfrm>
          <a:prstGeom prst="rect">
            <a:avLst/>
          </a:prstGeom>
          <a:noFill/>
          <a:ln/>
        </p:spPr>
        <p:txBody>
          <a:bodyPr wrap="square" lIns="0" tIns="0" rIns="0" bIns="0" rtlCol="0" anchor="ctr"/>
          <a:lstStyle/>
          <a:p>
            <a:pPr algn="r" indent="0" marL="0">
              <a:buNone/>
            </a:pPr>
            <a:r>
              <a:rPr lang="en-US" sz="900" dirty="0">
                <a:solidFill>
                  <a:srgbClr val="8B949E"/>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2026-09-11T20:54:34Z</dcterms:created>
  <dcterms:modified xsi:type="dcterms:W3CDTF">2026-09-11T20:54:34Z</dcterms:modified>
</cp:coreProperties>
</file>